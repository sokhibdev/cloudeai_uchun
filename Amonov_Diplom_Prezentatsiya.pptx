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28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</p:sldIdLst>
  <p:sldSz cx="12192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" Target="slides/slide14.xml"/>
  <Relationship Id="rId15" Type="http://schemas.openxmlformats.org/officeDocument/2006/relationships/slide" Target="slides/slide15.xml"/>
  <Relationship Id="rId16" Type="http://schemas.openxmlformats.org/officeDocument/2006/relationships/slide" Target="slides/slide16.xml"/>
  <Relationship Id="rId17" Type="http://schemas.openxmlformats.org/officeDocument/2006/relationships/slide" Target="slides/slide17.xml"/>
  <Relationship Id="rId18" Type="http://schemas.openxmlformats.org/officeDocument/2006/relationships/slide" Target="slides/slide18.xml"/>
  <Relationship Id="rId19" Type="http://schemas.openxmlformats.org/officeDocument/2006/relationships/slide" Target="slides/slide19.xml"/>
  <Relationship Id="rId20" Type="http://schemas.openxmlformats.org/officeDocument/2006/relationships/slide" Target="slides/slide20.xml"/>
  <Relationship Id="rId21" Type="http://schemas.openxmlformats.org/officeDocument/2006/relationships/slide" Target="slides/slide21.xml"/>
  <Relationship Id="rId22" Type="http://schemas.openxmlformats.org/officeDocument/2006/relationships/slide" Target="slides/slide22.xml"/>
  <Relationship Id="rId23" Type="http://schemas.openxmlformats.org/officeDocument/2006/relationships/slide" Target="slides/slide23.xml"/>
  <Relationship Id="rId24" Type="http://schemas.openxmlformats.org/officeDocument/2006/relationships/slide" Target="slides/slide24.xml"/>
  <Relationship Id="rId25" Type="http://schemas.openxmlformats.org/officeDocument/2006/relationships/slide" Target="slides/slide25.xml"/>
  <Relationship Id="rId26" Type="http://schemas.openxmlformats.org/officeDocument/2006/relationships/slide" Target="slides/slide26.xml"/>
  <Relationship Id="rId27" Type="http://schemas.openxmlformats.org/officeDocument/2006/relationships/slide" Target="slides/slide27.xml"/>
  <Relationship Id="rId28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6" Type="http://schemas.openxmlformats.org/officeDocument/2006/relationships/image" Target="../media/image1.jp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7" Type="http://schemas.openxmlformats.org/officeDocument/2006/relationships/image" Target="../media/image2.jp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8" Type="http://schemas.openxmlformats.org/officeDocument/2006/relationships/image" Target="../media/image3.jpg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9" Type="http://schemas.openxmlformats.org/officeDocument/2006/relationships/image" Target="../media/image4.jpg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image" Target="../media/image5.jpg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1" Type="http://schemas.openxmlformats.org/officeDocument/2006/relationships/image" Target="../media/image6.jpg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80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6678000"/>
            <a:ext cx="12193200" cy="180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540000" y="900000"/>
            <a:ext cx="11113200" cy="3240000"/>
          </a:xfrm>
          <a:prstGeom prst="rect">
            <a:avLst/>
          </a:prstGeom>
          <a:solidFill>
            <a:srgbClr val="1A2744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1080000" y="2088000"/>
            <a:ext cx="2880000" cy="288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720000" y="360000"/>
            <a:ext cx="10800000" cy="54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TATU SAMARQAND FILIALI  •  DASTURIY INJINIRING  •  2026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720000" y="1080000"/>
            <a:ext cx="10800000" cy="108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Dasturiy versiyalar orasidagi o'zgarishlarni</a:t>
            </a:r>
          </a:p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tahlil qiluvchi dasturiy tizimni loyihalashtirish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1080000" y="2232000"/>
            <a:ext cx="10080000" cy="216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1080000" y="2448000"/>
            <a:ext cx="1008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b="1" dirty="0">
                <a:solidFill>
                  <a:srgbClr val="00C6FF"/>
                </a:solidFill>
                <a:latin typeface="Calibri"/>
              </a:rPr>
              <a:t>BITIRUV MALAKAVIY ISHI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080000" y="2880000"/>
            <a:ext cx="1008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Bitiruvchi: Amonov S.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080000" y="3311999"/>
            <a:ext cx="1008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Ilmiy rahbar: Yusupov O.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080000" y="3743999"/>
            <a:ext cx="1008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TATU Samarqand filiali | 2026-yil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60000" y="1440000"/>
            <a:ext cx="4320000" cy="2880000"/>
          </a:xfrm>
          <a:prstGeom prst="rect">
            <a:avLst/>
          </a:prstGeom>
          <a:solidFill>
            <a:srgbClr val="1A2744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96000" y="1475999"/>
            <a:ext cx="4248000" cy="280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140000" y="1620000"/>
            <a:ext cx="396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3600" b="1" dirty="0">
                <a:solidFill>
                  <a:srgbClr val="00C6FF"/>
                </a:solidFill>
                <a:latin typeface="Calibri"/>
              </a:rPr>
              <a:t>❖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960000" y="2340000"/>
            <a:ext cx="4320000" cy="90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400" b="1" dirty="0">
                <a:solidFill>
                  <a:srgbClr val="FFFFFF"/>
                </a:solidFill>
                <a:latin typeface="Calibri"/>
              </a:rPr>
              <a:t>MUNDARIJA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4680000" y="3420000"/>
            <a:ext cx="2880000" cy="288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3600000" y="360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1. Kirish — Mavzuning dolzarbligi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14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2. I Bob — Nazariy asoslar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68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3. II Bob — Arxitektura va loyihalash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522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4. III Bob — Amaliy realizatsiya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576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5. Xulosa va takliflar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3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Dasturiy mahsulotlar murakkab, ko'p qatlamli arxitekturaga ega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81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Jamoaviy ishlashda minglab o'zgarishlar kiritiladi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An'anaviy Diff vositalari faqat sintaktik farqlarni ko'rsatadi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Mantiqiy ma'no va xavfsizlik ta'siri aniqlanmaydi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LLM texnologiyasi semantik tahlilni avtomatlashtiradi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O'zbek tilida professional hisobot generatsiyasi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Tadqiqotning Maqsad va Vazifalari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4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b="1" dirty="0">
                <a:solidFill>
                  <a:srgbClr val="00C6FF"/>
                </a:solidFill>
                <a:latin typeface="Calibri"/>
              </a:rPr>
              <a:t>MAQSAD: Versiyalar o'zgarishlarini tahlil qiluvchi SPA veb-platforma yaratish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1962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Git va VCS nazariy asoslarini o'rganish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LLM API integratsiya imkoniyatlarini tadqiq etish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5 oynali mantiqiy-funksional model ishlab chiqish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Router-Controller andozasida backend loyihalash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60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Prompt Engineering modeli yaratish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16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React SPA interfeysini amalga oshirish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Tadqiqot Obyekti, Predmeti va Metodlari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5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b="1" dirty="0">
                <a:solidFill>
                  <a:srgbClr val="00C6FF"/>
                </a:solidFill>
                <a:latin typeface="Calibri"/>
              </a:rPr>
              <a:t>OBYEKT: DT hayotiy sikli, versiyalarni boshqarish jarayonlari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1962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b="1" dirty="0">
                <a:solidFill>
                  <a:srgbClr val="00C6FF"/>
                </a:solidFill>
                <a:latin typeface="Calibri"/>
              </a:rPr>
              <a:t>PREDMET: Diff algoritmlari, JS asinxron metodlar, LLM semantik tahlil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3078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b="1" dirty="0">
                <a:solidFill>
                  <a:srgbClr val="00C6FF"/>
                </a:solidFill>
                <a:latin typeface="Calibri"/>
              </a:rPr>
              <a:t>METODLAR: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050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Ob'ektga yo'naltirilgan loyihalash (OOD)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60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Router-Controller strukturaviy tahlil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16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Prompt Engineering metodologiyasi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72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Git oqimlarini boshqarish texnologiyalari</a:t>
            </a:r>
          </a:p>
        </p:txBody>
      </p:sp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60000" y="1440000"/>
            <a:ext cx="4320000" cy="2880000"/>
          </a:xfrm>
          <a:prstGeom prst="rect">
            <a:avLst/>
          </a:prstGeom>
          <a:solidFill>
            <a:srgbClr val="1A2744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96000" y="1475999"/>
            <a:ext cx="4248000" cy="280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140000" y="1620000"/>
            <a:ext cx="396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3600" b="1" dirty="0">
                <a:solidFill>
                  <a:srgbClr val="00C6FF"/>
                </a:solidFill>
                <a:latin typeface="Calibri"/>
              </a:rPr>
              <a:t>❖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960000" y="2340000"/>
            <a:ext cx="4320000" cy="90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400" b="1" dirty="0">
                <a:solidFill>
                  <a:srgbClr val="FFFFFF"/>
                </a:solidFill>
                <a:latin typeface="Calibri"/>
              </a:rPr>
              <a:t>I BOB: NAZARIY ASOSLAR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4680000" y="3420000"/>
            <a:ext cx="2880000" cy="288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3600000" y="360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Versiyalarni boshqarish tizimlari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14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Diff tahlil metodologiyasi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68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LLM texnologiyalarini integratsiya qilish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Versiyalarni Boshqarish Tizimlari (VCS)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7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1. LOKAL VCS — fayllar faqat shaxsiy kompyuterda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81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2. MARKAZLASHTIRILGAN (CVCS) — SVN, CVS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37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⚠ Server o'chsa barcha tarix yo'qoladi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3. TAQSIMLANGAN (DVCS) — Git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3491999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✦ Har dasturchi to'liq repozitoriyaga ega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050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✦ Lokal operatsiyalar — internet shart emas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60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✦ Snapshot asosida saqlash — tezlik kafolati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16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Git — dunyo standartiga aylangan DVCS tizimi</a:t>
            </a:r>
          </a:p>
        </p:txBody>
      </p:sp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Git'ning Asosiy Texnik Afzalliklari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8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📸  Snapshot modeli — fayllar holati to'liq saqlanadi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81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🌿  Yengil tarmoqlanish — branch = 41 baytlik pointer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⚡  Lokal operatsiyalar — sekunddan kam vaqt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🔀  Merge mexanizmi — xavfsiz kod birlashtirish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🔍  Code Review — Pull Request orqali audit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4194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460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Muammo: Code Review'da inson omili → xatolar o'tkaziladi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16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Yechim: AI yordamida avtomatlashtirilgan semantik tahlil</a:t>
            </a:r>
          </a:p>
        </p:txBody>
      </p:sp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Diff Tahlil Algoritmlari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9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MAYERS ALGORITMI (1986) — standart Git algoritmi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181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LCS (Longest Common Subsequence) asosida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37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Eng qisqa tahrirlash skriptini topadi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3078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PATIENCE DIFF — noyob qatorlarni tayanch qilib oladi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050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Refaktoring va rename operatsiyalarida aniqroq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4752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516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HISTOGRAM DIFF — chastota asosida optimallashtirish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72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• Katta loyihalarda eng yuqori tezlik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6426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86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44000"/>
            <a:ext cx="108000" cy="57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44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Tizimning Kirish Qismi — Home Page</a:t>
            </a:r>
          </a:p>
        </p:txBody>
      </p:sp>
      <p:pic>
        <p:nvPicPr>
          <p:cNvPr id="10" name="Image"/>
          <p:cNvPicPr/>
          <p:nvPr/>
        </p:nvPicPr>
        <p:blipFill>
          <a:blip r:embed="rId6"/>
          <a:stretch>
            <a:fillRect/>
          </a:stretch>
        </p:blipFill>
        <p:spPr>
          <a:xfrm>
            <a:off x="360000" y="972000"/>
            <a:ext cx="7920000" cy="4680000"/>
          </a:xfrm>
          <a:prstGeom prst="rect">
            <a:avLst/>
          </a:prstGeom>
        </p:spPr>
      </p:pic>
      <p:sp>
        <p:nvSpPr>
          <p:cNvPr id="2" name="Rect"/>
          <p:cNvSpPr>
            <a:spLocks noGrp="1"/>
          </p:cNvSpPr>
          <p:nvPr/>
        </p:nvSpPr>
        <p:spPr>
          <a:xfrm>
            <a:off x="8640000" y="972000"/>
            <a:ext cx="3420000" cy="46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8676000" y="972000"/>
            <a:ext cx="72000" cy="4680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8820000" y="12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Foydalanuvchi GitHub/GitLab URL manzilini kiritadi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21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Regex orqali URL validatsiya va xavfsizlik tekshiruvi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0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Progressiv yuklanish animatsiyasi ko'rsatiladi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9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Tayyor ommabop repozitoriyalar ro'yxati taqdim etiladi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10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LLM Texnologiyasi — Google Gemini Integratsiyasi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11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Google Gemini 2.5 Flash modeli tanlandi: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1962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1 MILLION token kontekst oynasi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93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→ Butun loyiha diff matni bir so'rovda tahlil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O'zbek tili semantikasini mukammal tushunadi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Streaming JSON response — yuqori tezlik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60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✦ Prompt Engineering: 3 qatlamli tuzilma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16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1) System Prompt — mutaxassis roli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72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2) Context — diff matni + metama'lumot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6282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3) Output Format — Markdown strukturasi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60000" y="1440000"/>
            <a:ext cx="4320000" cy="2880000"/>
          </a:xfrm>
          <a:prstGeom prst="rect">
            <a:avLst/>
          </a:prstGeom>
          <a:solidFill>
            <a:srgbClr val="1A2744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96000" y="1475999"/>
            <a:ext cx="4248000" cy="280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140000" y="1620000"/>
            <a:ext cx="396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3600" b="1" dirty="0">
                <a:solidFill>
                  <a:srgbClr val="00C6FF"/>
                </a:solidFill>
                <a:latin typeface="Calibri"/>
              </a:rPr>
              <a:t>❖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960000" y="2340000"/>
            <a:ext cx="4320000" cy="90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400" b="1" dirty="0">
                <a:solidFill>
                  <a:srgbClr val="FFFFFF"/>
                </a:solidFill>
                <a:latin typeface="Calibri"/>
              </a:rPr>
              <a:t>II BOB: ARXITEKTURA VA LOYIHALASH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4680000" y="3420000"/>
            <a:ext cx="2880000" cy="288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3600000" y="360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Funksional talablar va mantiqiy model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14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Router-Controller andozasi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68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Frontend-Backend integratsiya arxitekturasi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Tizimning 5 Ta Asosiy Moduli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13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1️⃣  HOME — URL kiritish, validatsiya, yuklash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81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2️⃣  COMMITS — Commitlar tarixi, qidiruv, statistika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37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 (4 ta statistik kartochka: commit, qator, muallif)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3️⃣  DIFF VIEWER — Qatorlar darajasida vizuallash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3491999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 (yashil=qo'shilgan, qizil=o'chirilgan)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4️⃣  AI ANALYSIS — Gemini semantik hisoboti (o'zbek tilida)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60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5️⃣  DASHBOARD — Grafik, statistika, dasturchilar reytingi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5310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572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SPA arxitekturasi: sahifalar o'zgarishida brauzer qayta yuklanmaydi</a:t>
            </a:r>
          </a:p>
        </p:txBody>
      </p:sp>
    </p:spTree>
  </p:cSld>
  <p:clrMapOvr>
    <a:masterClr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86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44000"/>
            <a:ext cx="108000" cy="57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44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Commitlar Tarixi — Repository Explorer</a:t>
            </a:r>
          </a:p>
        </p:txBody>
      </p:sp>
      <p:pic>
        <p:nvPicPr>
          <p:cNvPr id="10" name="Image"/>
          <p:cNvPicPr/>
          <p:nvPr/>
        </p:nvPicPr>
        <p:blipFill>
          <a:blip r:embed="rId7"/>
          <a:stretch>
            <a:fillRect/>
          </a:stretch>
        </p:blipFill>
        <p:spPr>
          <a:xfrm>
            <a:off x="360000" y="972000"/>
            <a:ext cx="7920000" cy="4680000"/>
          </a:xfrm>
          <a:prstGeom prst="rect">
            <a:avLst/>
          </a:prstGeom>
        </p:spPr>
      </p:pic>
      <p:sp>
        <p:nvSpPr>
          <p:cNvPr id="2" name="Rect"/>
          <p:cNvSpPr>
            <a:spLocks noGrp="1"/>
          </p:cNvSpPr>
          <p:nvPr/>
        </p:nvSpPr>
        <p:spPr>
          <a:xfrm>
            <a:off x="8640000" y="972000"/>
            <a:ext cx="3420000" cy="46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8676000" y="972000"/>
            <a:ext cx="72000" cy="4680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8820000" y="12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Backend klonlashdan so'ng avtomatik o'tish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21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Commit xabar, muallif, sana bo'yicha qidiruv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0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Real vaqtda statistik kartochkalar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9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Commit tanlanganda diff sahifasiga o'tish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14</a:t>
            </a:r>
          </a:p>
        </p:txBody>
      </p:sp>
    </p:spTree>
  </p:cSld>
  <p:clrMapOvr>
    <a:masterClr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Router-Controller Andozasi — Backend Arxitektura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15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ROUTER QATLAMI (routes/)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181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gitRoutes.js → faqat endpoint va HTTP metodlar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37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aiRoutes.js  → AI so'rov nuqtalari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3078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CONTROLLER QATLAMI (controllers/)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050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gitController.js → clone, diff, parse mantiq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60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aiController.js  → Gemini API, Prompt injection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5310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572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AFZALLIK: Loose coupling — komponentlar mustaqil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6282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Gemini o'rniga boshqa LLM qo'shish = 1 fayl o'zgartirish</a:t>
            </a:r>
          </a:p>
        </p:txBody>
      </p:sp>
    </p:spTree>
  </p:cSld>
  <p:clrMapOvr>
    <a:masterClr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86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44000"/>
            <a:ext cx="108000" cy="57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44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Axborot Oqimlari — Mantiqiy Blok-sxema</a:t>
            </a:r>
          </a:p>
        </p:txBody>
      </p:sp>
      <p:pic>
        <p:nvPicPr>
          <p:cNvPr id="10" name="Image"/>
          <p:cNvPicPr/>
          <p:nvPr/>
        </p:nvPicPr>
        <p:blipFill>
          <a:blip r:embed="rId8"/>
          <a:stretch>
            <a:fillRect/>
          </a:stretch>
        </p:blipFill>
        <p:spPr>
          <a:xfrm>
            <a:off x="360000" y="972000"/>
            <a:ext cx="7920000" cy="4680000"/>
          </a:xfrm>
          <a:prstGeom prst="rect">
            <a:avLst/>
          </a:prstGeom>
        </p:spPr>
      </p:pic>
      <p:sp>
        <p:nvSpPr>
          <p:cNvPr id="2" name="Rect"/>
          <p:cNvSpPr>
            <a:spLocks noGrp="1"/>
          </p:cNvSpPr>
          <p:nvPr/>
        </p:nvSpPr>
        <p:spPr>
          <a:xfrm>
            <a:off x="8640000" y="972000"/>
            <a:ext cx="3420000" cy="46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8676000" y="972000"/>
            <a:ext cx="72000" cy="4680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8820000" y="12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React Frontend → Express.js Backend → Git/AI yadrolar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21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Parallel asinxron qayta ishlash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0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JSON Response → React State yangilanish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9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SPA: sahifa qayta yuklanmaydi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16</a:t>
            </a:r>
          </a:p>
        </p:txBody>
      </p:sp>
    </p:spTree>
  </p:cSld>
  <p:clrMapOvr>
    <a:masterClr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86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44000"/>
            <a:ext cx="108000" cy="57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44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Diff Tahlil Oynasi — Kod Vizualizatsiyasi</a:t>
            </a:r>
          </a:p>
        </p:txBody>
      </p:sp>
      <p:pic>
        <p:nvPicPr>
          <p:cNvPr id="10" name="Image"/>
          <p:cNvPicPr/>
          <p:nvPr/>
        </p:nvPicPr>
        <p:blipFill>
          <a:blip r:embed="rId9"/>
          <a:stretch>
            <a:fillRect/>
          </a:stretch>
        </p:blipFill>
        <p:spPr>
          <a:xfrm>
            <a:off x="360000" y="972000"/>
            <a:ext cx="7920000" cy="4680000"/>
          </a:xfrm>
          <a:prstGeom prst="rect">
            <a:avLst/>
          </a:prstGeom>
        </p:spPr>
      </p:pic>
      <p:sp>
        <p:nvSpPr>
          <p:cNvPr id="2" name="Rect"/>
          <p:cNvSpPr>
            <a:spLocks noGrp="1"/>
          </p:cNvSpPr>
          <p:nvPr/>
        </p:nvSpPr>
        <p:spPr>
          <a:xfrm>
            <a:off x="8640000" y="972000"/>
            <a:ext cx="3420000" cy="46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8676000" y="972000"/>
            <a:ext cx="72000" cy="4680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8820000" y="12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Tanlangan commit ichidagi fayl o'zgarishlari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21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Yashil: qo'shilgan qatorlar (+)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0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Qizil: o'chirilgan qatorlar (-)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9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Chap panel: fayllar ro'yxati | O'ng: diff viewer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17</a:t>
            </a:r>
          </a:p>
        </p:txBody>
      </p:sp>
    </p:spTree>
  </p:cSld>
  <p:clrMapOvr>
    <a:masterClr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60000" y="1440000"/>
            <a:ext cx="4320000" cy="2880000"/>
          </a:xfrm>
          <a:prstGeom prst="rect">
            <a:avLst/>
          </a:prstGeom>
          <a:solidFill>
            <a:srgbClr val="1A2744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996000" y="1475999"/>
            <a:ext cx="4248000" cy="280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140000" y="1620000"/>
            <a:ext cx="396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3600" b="1" dirty="0">
                <a:solidFill>
                  <a:srgbClr val="00C6FF"/>
                </a:solidFill>
                <a:latin typeface="Calibri"/>
              </a:rPr>
              <a:t>❖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960000" y="2340000"/>
            <a:ext cx="4320000" cy="90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400" b="1" dirty="0">
                <a:solidFill>
                  <a:srgbClr val="FFFFFF"/>
                </a:solidFill>
                <a:latin typeface="Calibri"/>
              </a:rPr>
              <a:t>III BOB: AMALIY REALIZATSIYA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4680000" y="3420000"/>
            <a:ext cx="2880000" cy="288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3600000" y="360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Node.js/Express.js backend ishlab chiqish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14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React SPA frontend amalga oshirish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3600000" y="4680000"/>
            <a:ext cx="50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Real repozitoriyalarda sinov va natijalar</a:t>
            </a:r>
          </a:p>
        </p:txBody>
      </p:sp>
    </p:spTree>
  </p:cSld>
  <p:clrMapOvr>
    <a:masterClr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Backend Texnik Stack va Kutubxonalar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19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⚙️  Node.js — asenkron non-blocking I/O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81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🚀  Express.js — Router-Controller andoza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📦  simple-git — Git operatsiyalari (clone, log, diff)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🔍  jsdiff — Mayers diff algoritmi, JSON parsing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🤖  @google/generative-ai — Gemini SDK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🔐  dotenv — API kalitlar muhit o'zgaruvchilari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60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🌐  cors — Cross-Origin xavfsizlik protokoli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5310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572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Kesh mexanizmi: klonlangan repolar lokal saqlanadi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6282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Error handling: try/catch + Global Middleware</a:t>
            </a:r>
          </a:p>
        </p:txBody>
      </p:sp>
    </p:spTree>
  </p:cSld>
  <p:clrMapOvr>
    <a:masterClr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Frontend Texnik Stack va Arxitektura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20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⚛️   React 18 — komponentli SPA arxitektura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81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🔄  useState + useEffect — holat boshqaruvi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📡  Axios — HTTP interceptors, asinxron so'rovlar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📝  ReactMarkdown — AI hisobotini render qilish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🎨  CSS — Dark Mode, Neon effektlar, animatsiyalar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4194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460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history.pushState — URL yo'llari dinamik yangilanadi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16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Virtual DOM — faqat o'zgargan komponent qayta chiziladi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72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Prop drilling — App.jsx global holat boshqaruvi</a:t>
            </a:r>
          </a:p>
        </p:txBody>
      </p:sp>
    </p:spTree>
  </p:cSld>
  <p:clrMapOvr>
    <a:masterClr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86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44000"/>
            <a:ext cx="108000" cy="57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44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AI Semantik Hisobot — Google Gemini Natijasi</a:t>
            </a:r>
          </a:p>
        </p:txBody>
      </p:sp>
      <p:pic>
        <p:nvPicPr>
          <p:cNvPr id="10" name="Image"/>
          <p:cNvPicPr/>
          <p:nvPr/>
        </p:nvPicPr>
        <p:blipFill>
          <a:blip r:embed="rId10"/>
          <a:stretch>
            <a:fillRect/>
          </a:stretch>
        </p:blipFill>
        <p:spPr>
          <a:xfrm>
            <a:off x="360000" y="972000"/>
            <a:ext cx="7920000" cy="4680000"/>
          </a:xfrm>
          <a:prstGeom prst="rect">
            <a:avLst/>
          </a:prstGeom>
        </p:spPr>
      </p:pic>
      <p:sp>
        <p:nvSpPr>
          <p:cNvPr id="2" name="Rect"/>
          <p:cNvSpPr>
            <a:spLocks noGrp="1"/>
          </p:cNvSpPr>
          <p:nvPr/>
        </p:nvSpPr>
        <p:spPr>
          <a:xfrm>
            <a:off x="8640000" y="972000"/>
            <a:ext cx="3420000" cy="46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8676000" y="972000"/>
            <a:ext cx="72000" cy="4680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8820000" y="12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O'zbek tilida professional semantik tahlil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21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Sintaktik o'zgarishlar + Biznes/Xavfsizlik mantiqi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0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Auto-fix: tayyor optimallashtirilgan kod namunalari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9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Markdown formatida chiroyli render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21</a:t>
            </a:r>
          </a:p>
        </p:txBody>
      </p:sp>
    </p:spTree>
  </p:cSld>
  <p:clrMapOvr>
    <a:masterClr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90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86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44000"/>
            <a:ext cx="108000" cy="57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44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Dashboard — Loyiha Analitikasi</a:t>
            </a:r>
          </a:p>
        </p:txBody>
      </p:sp>
      <p:pic>
        <p:nvPicPr>
          <p:cNvPr id="10" name="Image"/>
          <p:cNvPicPr/>
          <p:nvPr/>
        </p:nvPicPr>
        <p:blipFill>
          <a:blip r:embed="rId11"/>
          <a:stretch>
            <a:fillRect/>
          </a:stretch>
        </p:blipFill>
        <p:spPr>
          <a:xfrm>
            <a:off x="360000" y="972000"/>
            <a:ext cx="7920000" cy="4680000"/>
          </a:xfrm>
          <a:prstGeom prst="rect">
            <a:avLst/>
          </a:prstGeom>
        </p:spPr>
      </p:pic>
      <p:sp>
        <p:nvSpPr>
          <p:cNvPr id="2" name="Rect"/>
          <p:cNvSpPr>
            <a:spLocks noGrp="1"/>
          </p:cNvSpPr>
          <p:nvPr/>
        </p:nvSpPr>
        <p:spPr>
          <a:xfrm>
            <a:off x="8640000" y="972000"/>
            <a:ext cx="3420000" cy="46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8676000" y="972000"/>
            <a:ext cx="72000" cy="4680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8820000" y="12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Eng ko'p o'zgargan top fayllar — progress-bar grafik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21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Dasturchilar faolligi reytingi (Leaderboard)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0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Umumiy statistika: commitlar, qatorlar, mualliflar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8820000" y="3960000"/>
            <a:ext cx="3168000" cy="79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200" dirty="0">
                <a:solidFill>
                  <a:srgbClr val="CBD5E1"/>
                </a:solidFill>
                <a:latin typeface="Calibri"/>
              </a:rPr>
              <a:t>▸  Animatsiyali binafsha-yashil vizualizatsiya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22</a:t>
            </a:r>
          </a:p>
        </p:txBody>
      </p:sp>
    </p:spTree>
  </p:cSld>
  <p:clrMapOvr>
    <a:masterClr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Sinov Natijalari va Samaradorlik Ko'rsatkichlari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23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Real GitHub repozitoriyalarida sinovdan o'tkazildi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1962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✅  Barcha 5 modul muvaffaqiyatli ishladi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93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✅  AI o'zbek tilida professional hisobot berdi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✅  Kiberxavfsizlik kamchiliklari aniqlandi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✅  Auto-fix tavsiyalari generatsiya qilindi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4752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516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📊  Code Review vaqti 40-50% ga qisqardi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72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📊  Mantiqiy xatolarni aniqlash aniqligi yuqori</a:t>
            </a:r>
          </a:p>
        </p:txBody>
      </p:sp>
    </p:spTree>
  </p:cSld>
  <p:clrMapOvr>
    <a:masterClr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Ilmiy Yangilik va Amaliy Ahamiyat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24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b="1" dirty="0">
                <a:solidFill>
                  <a:srgbClr val="00C6FF"/>
                </a:solidFill>
                <a:latin typeface="Calibri"/>
              </a:rPr>
              <a:t>ILMIY YANGILIK: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181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Kod o'zgarishlarini LLM yordamida o'zbek tilida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37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semantik tahlil qilishning integratsiyalashgan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93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mantiqiy-arxitekturaviy modeli ishlab chiqildi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3636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b="1" dirty="0">
                <a:solidFill>
                  <a:srgbClr val="00C6FF"/>
                </a:solidFill>
                <a:latin typeface="Calibri"/>
              </a:rPr>
              <a:t>AMALIY AHAMIYAT: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60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✦ IT kompaniyalar uchun Code Review avtomatizatsiyasi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16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✦ Loyiha audit va monitoring tizimi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72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✦ Jamoa faolligini kuzatish (Dashboard)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6282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✦ Dasturiy xavfsizlikni ta'minlash vositasi</a:t>
            </a:r>
          </a:p>
        </p:txBody>
      </p:sp>
    </p:spTree>
  </p:cSld>
  <p:clrMapOvr>
    <a:masterClr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Xulosa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25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1. An'anaviy diff vositalari sintaktik darajada qoladi —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181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semantik tahlil uchun AI integratsiya zarur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2. Router-Controller + React SPA arxitekturasi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93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barqarorlik va tezkorlikni ta'minladi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3. Gemini 2.5 Flash: o'zbek tilida professional hisobot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05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4. Real sinov: Code Review 40-50% tezlashdi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360000" y="4752000"/>
            <a:ext cx="11520000" cy="18000"/>
          </a:xfrm>
          <a:prstGeom prst="rect">
            <a:avLst/>
          </a:prstGeom>
          <a:solidFill>
            <a:srgbClr val="00C6FF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432000" y="516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Loyiha zamonaviy IT kompaniyalar uchun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72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tayyor amaliy dasturiy mahsulot hisoblanadi</a:t>
            </a:r>
          </a:p>
        </p:txBody>
      </p:sp>
    </p:spTree>
  </p:cSld>
  <p:clrMapOvr>
    <a:masterClr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040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1080000"/>
          </a:xfrm>
          <a:prstGeom prst="rect">
            <a:avLst/>
          </a:prstGeom>
          <a:solidFill>
            <a:srgbClr val="0A1628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1044000"/>
            <a:ext cx="12193200" cy="432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288000" y="180000"/>
            <a:ext cx="108000" cy="648000"/>
          </a:xfrm>
          <a:prstGeom prst="rect">
            <a:avLst/>
          </a:prstGeom>
          <a:solidFill>
            <a:srgbClr val="7B2FBE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540000" y="180000"/>
            <a:ext cx="1080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Takliflar va Kelajak Istiqbollari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1160000" y="6300000"/>
            <a:ext cx="900000" cy="36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26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1260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🔗  CI/CD integratsiya (GitHub Actions plagin)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1818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→ Har commit da avtomatik AI tahlil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2376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🔒  Lokal LLM modeli (Llama, CodeLlama)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2934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→ Ma'lumotlar maxfiyligi, GDPR muvofiqlik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3491999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⚙️   Prompt sozlash paneli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4050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→ Kompaniya ichki standartlariga moslashtirish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4608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📊  Interaktiv vizualizatsiya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5166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→ Grafik, diagramma, arxitektura sxemalari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432000" y="5724000"/>
            <a:ext cx="11088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00E676"/>
                </a:solidFill>
                <a:latin typeface="Calibri"/>
              </a:rPr>
              <a:t>🌍  Ko'p tillik qo'llab-quvvatlash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900000" y="6282000"/>
            <a:ext cx="10620000" cy="503999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400" dirty="0">
                <a:solidFill>
                  <a:srgbClr val="CBD5E1"/>
                </a:solidFill>
                <a:latin typeface="Calibri"/>
              </a:rPr>
              <a:t>   → Rus, ingliz tilidagi hisobotlar</a:t>
            </a:r>
          </a:p>
        </p:txBody>
      </p:sp>
    </p:spTree>
  </p:cSld>
  <p:clrMapOvr>
    <a:masterClr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1080000" y="1080000"/>
            <a:ext cx="10080000" cy="4680000"/>
          </a:xfrm>
          <a:prstGeom prst="rect">
            <a:avLst/>
          </a:prstGeom>
          <a:solidFill>
            <a:srgbClr val="1A2744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1116000" y="1116000"/>
            <a:ext cx="10008000" cy="4608000"/>
          </a:xfrm>
          <a:prstGeom prst="rect">
            <a:avLst/>
          </a:prstGeom>
          <a:solidFill>
            <a:srgbClr val="0D1B35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1800000" y="1980000"/>
            <a:ext cx="8640000" cy="36000"/>
          </a:xfrm>
          <a:prstGeom prst="rect">
            <a:avLst/>
          </a:prstGeom>
          <a:solidFill>
            <a:srgbClr val="00C6FF"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1800000" y="1260000"/>
            <a:ext cx="8640000" cy="720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2800" b="1" dirty="0">
                <a:solidFill>
                  <a:srgbClr val="00C6FF"/>
                </a:solidFill>
                <a:latin typeface="Calibri"/>
              </a:rPr>
              <a:t>E'tiboringiz uchun rahmat!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800000" y="2232000"/>
            <a:ext cx="86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500" dirty="0">
                <a:solidFill>
                  <a:srgbClr val="FFFFFF"/>
                </a:solidFill>
                <a:latin typeface="Calibri"/>
              </a:rPr>
              <a:t>Dasturiy versiyalar orasidagi o'zgarishlarni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800000" y="2754000"/>
            <a:ext cx="86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500" dirty="0">
                <a:solidFill>
                  <a:srgbClr val="FFFFFF"/>
                </a:solidFill>
                <a:latin typeface="Calibri"/>
              </a:rPr>
              <a:t>tahlil qiluvchi dasturiy tizim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1800000" y="3348000"/>
            <a:ext cx="8640000" cy="18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1800000" y="3798000"/>
            <a:ext cx="86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500" b="1" dirty="0">
                <a:solidFill>
                  <a:srgbClr val="00C6FF"/>
                </a:solidFill>
                <a:latin typeface="Calibri"/>
              </a:rPr>
              <a:t>Bitiruvchi: Amonov Sohibjon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800000" y="4320000"/>
            <a:ext cx="86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500" dirty="0">
                <a:solidFill>
                  <a:srgbClr val="00C6FF"/>
                </a:solidFill>
                <a:latin typeface="Calibri"/>
              </a:rPr>
              <a:t>Ilmiy rahbar: Yusupov O.</a:t>
            </a:r>
          </a:p>
        </p:txBody>
      </p:sp>
      <p:sp>
        <p:nvSpPr>
          <p:cNvPr id="1" name="TextBox"/>
          <p:cNvSpPr txBox="1"/>
          <p:nvPr/>
        </p:nvSpPr>
        <p:spPr>
          <a:xfrm>
            <a:off x="1800000" y="4842000"/>
            <a:ext cx="86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500" dirty="0">
                <a:solidFill>
                  <a:srgbClr val="00C6FF"/>
                </a:solidFill>
                <a:latin typeface="Calibri"/>
              </a:rPr>
              <a:t>TATU Samarqand filiali — 2026</a:t>
            </a:r>
          </a:p>
        </p:txBody>
      </p:sp>
      <p:sp>
        <p:nvSpPr>
          <p:cNvPr id="2" name="Rect"/>
          <p:cNvSpPr>
            <a:spLocks noGrp="1"/>
          </p:cNvSpPr>
          <p:nvPr/>
        </p:nvSpPr>
        <p:spPr>
          <a:xfrm>
            <a:off x="1800000" y="5363999"/>
            <a:ext cx="8640000" cy="18000"/>
          </a:xfrm>
          <a:prstGeom prst="rect">
            <a:avLst/>
          </a:prstGeom>
          <a:solidFill>
            <a:srgbClr val="7B2FBE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extBox"/>
          <p:cNvSpPr txBox="1"/>
          <p:nvPr/>
        </p:nvSpPr>
        <p:spPr>
          <a:xfrm>
            <a:off x="1800000" y="5886000"/>
            <a:ext cx="8640000" cy="432000"/>
          </a:xfrm>
          <a:prstGeom prst="rect">
            <a:avLst/>
          </a:prstGeom>
          <a:noFill/>
        </p:spPr>
        <p:txBody>
          <a:bodyPr wrap="square" lIns="91440" rIns="91440" tIns="45720" bIns="45720"/>
          <a:lstStyle/>
          <a:p>
            <a:r>
              <a:rPr lang="uz-UZ" altLang="en-US" sz="1500" b="1" dirty="0">
                <a:solidFill>
                  <a:srgbClr val="00E676"/>
                </a:solidFill>
                <a:latin typeface="Calibri"/>
              </a:rPr>
              <a:t>Savollar uchun tayorman!</a:t>
            </a:r>
          </a:p>
        </p:txBody>
      </p:sp>
    </p:spTree>
  </p:cSld>
  <p:clrMapOvr>
    <a:masterClr/>
  </p:clrMapOvr>
</p:sld>
</file>

<file path=docProps/core.xml><?xml version="1.0" encoding="utf-8"?>
<cp:coreProperties xmlns:cp="http://schemas.openxmlformats.org/package/2006/metadata/core-properties" xmlns:dc="http://purl.org/dc/elements/1.1/">
  <dc:title>Dasturiy versiyalar orasidagi o'zgarishlarni tahlil qiluvchi tizim</dc:title>
  <dc:creator>Amonov Sohibjon</dc:creator>
</cp:coreProperties>
</file>