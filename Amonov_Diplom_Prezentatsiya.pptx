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27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2192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" Target="slides/slide13.xml"/>
  <Relationship Id="rId14" Type="http://schemas.openxmlformats.org/officeDocument/2006/relationships/slide" Target="slides/slide14.xml"/>
  <Relationship Id="rId15" Type="http://schemas.openxmlformats.org/officeDocument/2006/relationships/slide" Target="slides/slide15.xml"/>
  <Relationship Id="rId16" Type="http://schemas.openxmlformats.org/officeDocument/2006/relationships/slide" Target="slides/slide16.xml"/>
  <Relationship Id="rId17" Type="http://schemas.openxmlformats.org/officeDocument/2006/relationships/slide" Target="slides/slide17.xml"/>
  <Relationship Id="rId18" Type="http://schemas.openxmlformats.org/officeDocument/2006/relationships/slide" Target="slides/slide18.xml"/>
  <Relationship Id="rId19" Type="http://schemas.openxmlformats.org/officeDocument/2006/relationships/slide" Target="slides/slide19.xml"/>
  <Relationship Id="rId20" Type="http://schemas.openxmlformats.org/officeDocument/2006/relationships/slide" Target="slides/slide20.xml"/>
  <Relationship Id="rId21" Type="http://schemas.openxmlformats.org/officeDocument/2006/relationships/slide" Target="slides/slide21.xml"/>
  <Relationship Id="rId22" Type="http://schemas.openxmlformats.org/officeDocument/2006/relationships/slide" Target="slides/slide22.xml"/>
  <Relationship Id="rId23" Type="http://schemas.openxmlformats.org/officeDocument/2006/relationships/slide" Target="slides/slide23.xml"/>
  <Relationship Id="rId24" Type="http://schemas.openxmlformats.org/officeDocument/2006/relationships/slide" Target="slides/slide24.xml"/>
  <Relationship Id="rId25" Type="http://schemas.openxmlformats.org/officeDocument/2006/relationships/slide" Target="slides/slide25.xml"/>
  <Relationship Id="rId26" Type="http://schemas.openxmlformats.org/officeDocument/2006/relationships/slide" Target="slides/slide26.xml"/>
  <Relationship Id="rId27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6" Type="http://schemas.openxmlformats.org/officeDocument/2006/relationships/image" Target="../media/image1.jp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7" Type="http://schemas.openxmlformats.org/officeDocument/2006/relationships/image" Target="../media/image2.jp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8" Type="http://schemas.openxmlformats.org/officeDocument/2006/relationships/image" Target="../media/image3.jp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9" Type="http://schemas.openxmlformats.org/officeDocument/2006/relationships/image" Target="../media/image4.jp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image" Target="../media/image5.jpg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1" Type="http://schemas.openxmlformats.org/officeDocument/2006/relationships/image" Target="../media/image6.jpg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251999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540000" y="720000"/>
            <a:ext cx="11113200" cy="5220000"/>
          </a:xfrm>
          <a:prstGeom prst="rect">
            <a:avLst/>
          </a:prstGeom>
          <a:solidFill>
            <a:srgbClr val="0F2547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540000" y="720000"/>
            <a:ext cx="11113200" cy="36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720000" y="36000"/>
            <a:ext cx="10800000" cy="54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ctr"/>
            <a:r>
              <a:rPr lang="uz-UZ" altLang="en-US" sz="1100" i="1" dirty="0">
                <a:solidFill>
                  <a:srgbClr val="00C6FF"/>
                </a:solidFill>
                <a:latin typeface="Calibri"/>
              </a:rPr>
              <a:t>O'ZBEKISTON RESPUBLIKASI | TATU SAMARQAND FILIALI | 2026</a:t>
            </a:r>
          </a:p>
        </p:txBody>
      </p:sp>
      <p:sp>
        <p:nvSpPr>
          <p:cNvPr id="1" name="tb"/>
          <p:cNvSpPr txBox="1"/>
          <p:nvPr/>
        </p:nvSpPr>
        <p:spPr>
          <a:xfrm>
            <a:off x="720000" y="864000"/>
            <a:ext cx="10800000" cy="396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ctr"/>
            <a:r>
              <a:rPr lang="uz-UZ" altLang="en-US" sz="1300" dirty="0">
                <a:solidFill>
                  <a:srgbClr val="FFD700"/>
                </a:solidFill>
                <a:latin typeface="Calibri"/>
              </a:rPr>
              <a:t>⚡  BITIRUV MALAKAVIY ISHI  ⚡</a:t>
            </a:r>
          </a:p>
        </p:txBody>
      </p:sp>
      <p:sp>
        <p:nvSpPr>
          <p:cNvPr id="1" name="tb"/>
          <p:cNvSpPr txBox="1"/>
          <p:nvPr/>
        </p:nvSpPr>
        <p:spPr>
          <a:xfrm>
            <a:off x="720000" y="1332000"/>
            <a:ext cx="10800000" cy="12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ctr"/>
            <a:r>
              <a:rPr lang="uz-UZ" altLang="en-US" sz="2200" b="1" dirty="0">
                <a:solidFill>
                  <a:srgbClr val="FFFFFF"/>
                </a:solidFill>
                <a:latin typeface="Calibri"/>
              </a:rPr>
              <a:t>Dasturiy versiyalar orasidagi</a:t>
            </a:r>
          </a:p>
          <a:p>
            <a:pPr algn="ctr"/>
            <a:r>
              <a:rPr lang="uz-UZ" altLang="en-US" sz="2200" b="1" dirty="0">
                <a:solidFill>
                  <a:srgbClr val="FFFFFF"/>
                </a:solidFill>
                <a:latin typeface="Calibri"/>
              </a:rPr>
              <a:t>o'zgarishlarni tahlil qiluvchi</a:t>
            </a:r>
          </a:p>
          <a:p>
            <a:pPr algn="ctr"/>
            <a:r>
              <a:rPr lang="uz-UZ" altLang="en-US" sz="2200" b="1" dirty="0">
                <a:solidFill>
                  <a:srgbClr val="FFFFFF"/>
                </a:solidFill>
                <a:latin typeface="Calibri"/>
              </a:rPr>
              <a:t>dasturiy tizimni loyihalashtirish</a:t>
            </a:r>
          </a:p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0" y="2772000"/>
            <a:ext cx="8640000" cy="288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720000" y="2916000"/>
            <a:ext cx="10800000" cy="234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ctr">
              <a:spcBef>
                <a:spcPts val="8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Bitiruvchi:</a:t>
            </a:r>
            <a:r>
              <a:rPr lang="uz-UZ" altLang="en-US" sz="1300" dirty="0">
                <a:solidFill>
                  <a:srgbClr val="FFFFFF"/>
                </a:solidFill>
                <a:latin typeface="Calibri"/>
              </a:rPr>
              <a:t>  Amonov Sohibjon</a:t>
            </a:r>
          </a:p>
          <a:p>
            <a:pPr algn="ctr">
              <a:spcBef>
                <a:spcPts val="8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Ilmiy rahbar:</a:t>
            </a:r>
            <a:r>
              <a:rPr lang="uz-UZ" altLang="en-US" sz="1300" dirty="0">
                <a:solidFill>
                  <a:srgbClr val="FFFFFF"/>
                </a:solidFill>
                <a:latin typeface="Calibri"/>
              </a:rPr>
              <a:t>  Yusupov O.</a:t>
            </a:r>
          </a:p>
          <a:p>
            <a:pPr algn="ctr">
              <a:spcBef>
                <a:spcPts val="8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Kafedra:</a:t>
            </a:r>
            <a:r>
              <a:rPr lang="uz-UZ" altLang="en-US" sz="1300" dirty="0">
                <a:solidFill>
                  <a:srgbClr val="FFFFFF"/>
                </a:solidFill>
                <a:latin typeface="Calibri"/>
              </a:rPr>
              <a:t>  Dasturiy injiniring</a:t>
            </a:r>
          </a:p>
          <a:p>
            <a:pPr algn="ctr">
              <a:spcBef>
                <a:spcPts val="8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Bef>
                <a:spcPts val="80"/>
              </a:spcBef>
            </a:pPr>
            <a:r>
              <a:rPr lang="uz-UZ" altLang="en-US" sz="1100" i="1" dirty="0">
                <a:solidFill>
                  <a:srgbClr val="B0C4DE"/>
                </a:solidFill>
                <a:latin typeface="Calibri"/>
              </a:rPr>
              <a:t>React  •  Node.js  •  Express.js  •  Google Gemini AI  •  Git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540000" y="1260000"/>
            <a:ext cx="1800000" cy="1980000"/>
          </a:xfrm>
          <a:prstGeom prst="rect">
            <a:avLst/>
          </a:prstGeom>
          <a:solidFill>
            <a:srgbClr val="0F2547">
              <a:alpha val="8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540000" y="1260000"/>
            <a:ext cx="1800000" cy="19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ctr"/>
            <a:r>
              <a:rPr lang="uz-UZ" altLang="en-US" sz="5800" b="1" dirty="0">
                <a:solidFill>
                  <a:srgbClr val="00C6FF"/>
                </a:solidFill>
                <a:latin typeface="Calibri"/>
              </a:rPr>
              <a:t>📋</a:t>
            </a:r>
          </a:p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2520000" y="1440000"/>
            <a:ext cx="8640000" cy="1620000"/>
          </a:xfrm>
          <a:prstGeom prst="rect">
            <a:avLst/>
          </a:prstGeom>
          <a:solidFill>
            <a:srgbClr val="0F2547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2520000" y="1440000"/>
            <a:ext cx="8640000" cy="36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2628000" y="1620000"/>
            <a:ext cx="8424000" cy="12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200" b="1" dirty="0">
                <a:solidFill>
                  <a:srgbClr val="FFFFFF"/>
                </a:solidFill>
                <a:latin typeface="Calibri"/>
              </a:rPr>
              <a:t/>
            </a:r>
          </a:p>
          <a:p>
            <a:pPr/>
            <a:r>
              <a:rPr lang="uz-UZ" altLang="en-US" sz="2200" b="1" dirty="0">
                <a:solidFill>
                  <a:srgbClr val="FFFFFF"/>
                </a:solidFill>
                <a:latin typeface="Calibri"/>
              </a:rPr>
              <a:t>MUNDARIJA</a:t>
            </a:r>
          </a:p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540000" y="3600000"/>
            <a:ext cx="11160000" cy="2880000"/>
          </a:xfrm>
          <a:prstGeom prst="rect">
            <a:avLst/>
          </a:prstGeom>
          <a:solidFill>
            <a:srgbClr val="0F2547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720000" y="3780000"/>
            <a:ext cx="10800000" cy="2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6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1. Kirish — Mavzuning dolzarbligi</a:t>
            </a:r>
          </a:p>
          <a:p>
            <a:pPr>
              <a:spcBef>
                <a:spcPts val="6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2. I Bob — Versiyalarni boshqarish: nazariy asoslar</a:t>
            </a:r>
          </a:p>
          <a:p>
            <a:pPr>
              <a:spcBef>
                <a:spcPts val="6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3. II Bob — Arxitektura va dasturiy tizimni loyihalashtirish</a:t>
            </a:r>
          </a:p>
          <a:p>
            <a:pPr>
              <a:spcBef>
                <a:spcPts val="6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4. III Bob — Amaliy realizatsiya va sinov natijalari</a:t>
            </a:r>
          </a:p>
          <a:p>
            <a:pPr>
              <a:spcBef>
                <a:spcPts val="6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5. Xulosa, takliflar va kelajak istiqbollari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Mavzuning Dolzarbligi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3</a:t>
            </a:r>
          </a:p>
        </p:txBody>
      </p:sp>
      <p:sp>
        <p:nvSpPr>
          <p:cNvPr id="1" name="tb"/>
          <p:cNvSpPr txBox="1"/>
          <p:nvPr/>
        </p:nvSpPr>
        <p:spPr>
          <a:xfrm>
            <a:off x="288000" y="1080000"/>
            <a:ext cx="11700000" cy="55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Zamonaviy dasturiy mahsulotlar o'ta murakkab, ko'p qatlamli arxitekturaga ega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Jamoaviy ishlashda minglab commit (o'zgarish) kiritiladi — nazorat zarur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dirty="0">
                <a:solidFill>
                  <a:srgbClr val="FF5252"/>
                </a:solidFill>
                <a:latin typeface="Calibri"/>
              </a:rPr>
              <a:t>⚠ Asosiy MUAMMO: An'anaviy Diff vositalari FAQAT sintaktik tahlil qiladi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• Qizil/yashil qatorlar — nima o'zgarganini KO'RSATADI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• Lekin NIMA UCHUN o'zgardi? — hech qachon tushuntirib BERMAYDI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• Kiberxavfsizlik xatarlari, mantiqiy muammolar aniqlanmaydi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✅ Yechim: LLM (Large Language Models) texnologiyasi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Google Gemini 2.5 Flash — o'zbek tilida semantik tahlil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React + Node.js + Express.js — zamonaviy SPA veb-platforma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Natija: Code Review vaqti 40-50% qisqaradi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Tadqiqot Maqsadi va Vazifalari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4</a:t>
            </a:r>
          </a:p>
        </p:txBody>
      </p:sp>
      <p:sp>
        <p:nvSpPr>
          <p:cNvPr id="1" name="tb"/>
          <p:cNvSpPr txBox="1"/>
          <p:nvPr/>
        </p:nvSpPr>
        <p:spPr>
          <a:xfrm>
            <a:off x="288000" y="1080000"/>
            <a:ext cx="11700000" cy="55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ASOSIY MAQSAD: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Versiyalar orasidagi o'zgarishlarni qatorlar darajasida aniqlash,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AI yordamida o'zbek tilida semantik tahlil qiluvchi SPA platforma yaratish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Git va VCS nazariy asoslarini o'rganish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jsdiff kutubxonasi va LLM API integratsiyasini tadqiq etish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5 oynali mantiqiy-funksional model ishlab chiqish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Router-Controller andozasida backend arxitekturasi yaratish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Prompt Engineering — 3 qatlamli model (o'zbek tilida)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React SPA — sahifalararo ma'lumotlar zanjiri amalga oshirish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Tadqiqot predmeti: Diff algoritmlari + LLM semantik tahlil metodlari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Metodlar: OOD, Router-Controller, Prompt Engineering, Git oqimlari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540000" y="1260000"/>
            <a:ext cx="1800000" cy="1980000"/>
          </a:xfrm>
          <a:prstGeom prst="rect">
            <a:avLst/>
          </a:prstGeom>
          <a:solidFill>
            <a:srgbClr val="0F2547">
              <a:alpha val="8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540000" y="1260000"/>
            <a:ext cx="1800000" cy="19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ctr"/>
            <a:r>
              <a:rPr lang="uz-UZ" altLang="en-US" sz="5800" b="1" dirty="0">
                <a:solidFill>
                  <a:srgbClr val="00C6FF"/>
                </a:solidFill>
                <a:latin typeface="Calibri"/>
              </a:rPr>
              <a:t>I</a:t>
            </a:r>
          </a:p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2520000" y="1440000"/>
            <a:ext cx="8640000" cy="1620000"/>
          </a:xfrm>
          <a:prstGeom prst="rect">
            <a:avLst/>
          </a:prstGeom>
          <a:solidFill>
            <a:srgbClr val="0F2547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2520000" y="1440000"/>
            <a:ext cx="8640000" cy="36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2628000" y="1620000"/>
            <a:ext cx="8424000" cy="12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200" b="1" dirty="0">
                <a:solidFill>
                  <a:srgbClr val="FFFFFF"/>
                </a:solidFill>
                <a:latin typeface="Calibri"/>
              </a:rPr>
              <a:t>BOB: VERSIYALARNI BOSHQARISH</a:t>
            </a:r>
          </a:p>
          <a:p>
            <a:pPr/>
            <a:r>
              <a:rPr lang="uz-UZ" altLang="en-US" sz="2200" b="1" dirty="0">
                <a:solidFill>
                  <a:srgbClr val="FFFFFF"/>
                </a:solidFill>
                <a:latin typeface="Calibri"/>
              </a:rPr>
              <a:t>TIZIMLARINING NAZARIY ASOSLARI</a:t>
            </a:r>
          </a:p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540000" y="3600000"/>
            <a:ext cx="11160000" cy="2880000"/>
          </a:xfrm>
          <a:prstGeom prst="rect">
            <a:avLst/>
          </a:prstGeom>
          <a:solidFill>
            <a:srgbClr val="0F2547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720000" y="3780000"/>
            <a:ext cx="10800000" cy="2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6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1.1 — VCS tarixi: Lokal, Markazlashtirilgan, Taqsimlangan tizimlar</a:t>
            </a:r>
          </a:p>
          <a:p>
            <a:pPr>
              <a:spcBef>
                <a:spcPts val="6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1.2 — Diff tahlil metodologiyasi: Mayers, Patience, Histogram algoritmlari</a:t>
            </a:r>
          </a:p>
          <a:p>
            <a:pPr>
              <a:spcBef>
                <a:spcPts val="6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1.3 — LLM texnologiyalarini dasturiy kod tahliliga integratsiya istiqbollari</a:t>
            </a:r>
          </a:p>
        </p:txBody>
      </p:sp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Versiyalarni Boshqarish Tizimlari (VCS) Tarixiy Tahlili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6</a:t>
            </a:r>
          </a:p>
        </p:txBody>
      </p:sp>
      <p:sp>
        <p:nvSpPr>
          <p:cNvPr id="1" name="tb"/>
          <p:cNvSpPr txBox="1"/>
          <p:nvPr/>
        </p:nvSpPr>
        <p:spPr>
          <a:xfrm>
            <a:off x="288000" y="1080000"/>
            <a:ext cx="11700000" cy="55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LOKAL VCS — fayllar faqat shaxsiy kompyuterda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Kamchiligi: jamoaviy ishlash MUMKIN EMAS, server o'chsa tarix yo'qoladi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MARKAZLASHTIRILGAN (CVCS) — SVN, CVS (bitta server)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⚠ Server o'chsa — butun jamoa ishi to'xtaydi, tarix yo'qoladi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TAQSIMLANGAN (DVCS) — Git (zamonaviy standart, 2005-hozir)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✅ Har dasturchi to'liq repozitoriyani lokal klonlaydi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✅ Internet shart emas — lokal operatsiyalar sekunddan kam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✅ Snapshot asosida saqlash — tezlik va ishonchlilik kafolati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✅ Branch = 41 baytlik ko'rsatgich — yengil va tezkor tarmoqlanish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Git — dunyo dasturiy injeneriyasining DE FACTO standarti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Code Review jarayoni: Pull Request → jamoa tekshiruvi → merge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Muammo: Yirik loyihalarda qo'lda tekshirish inson resursini ko'p oladi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Diff Tahlil Algoritmlari — Ilmiy Tahlil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7</a:t>
            </a:r>
          </a:p>
        </p:txBody>
      </p:sp>
      <p:sp>
        <p:nvSpPr>
          <p:cNvPr id="1" name="tb"/>
          <p:cNvSpPr txBox="1"/>
          <p:nvPr/>
        </p:nvSpPr>
        <p:spPr>
          <a:xfrm>
            <a:off x="288000" y="1080000"/>
            <a:ext cx="11700000" cy="55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UNIFIED DIFF FORMATI — xalqaro standart: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(+) — qo'shilgan qatorlar  |  (-) — o'chirilgan qatorlar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@@ koordinatlar — qaysi satrdan boshlangani aniq ko'rsatiladi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MAYERS ALGORITMI (Eugene Myers, 1986) — Git standart algoritmi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LCS (Longest Common Subsequence) asosida — eng qisqa tahrirlash skripti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Kamchiligi: bir xil kalit so'zlar bo'lsa chalg'ituvchi natija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PATIENCE DIFF — noyob qatorlarga tayanadi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Rename, refaktoring operatsiyalarida aniqroq natija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HISTOGRAM DIFF — chastota asosida optimallashtirish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Katta loyihalarda eng yuqori tezlik va aniqlik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Loyihada: jsdiff kutubxonasi — Mayers algoritmi + JSON parsing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Asosiy muammo: Barchasi FAQAT sintaktik — mantiqiy ma'no yo'q!</a:t>
            </a:r>
          </a:p>
        </p:txBody>
      </p:sp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Google Gemini LLM Integratsiyasi — Nima Uchun?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8</a:t>
            </a:r>
          </a:p>
        </p:txBody>
      </p:sp>
      <p:sp>
        <p:nvSpPr>
          <p:cNvPr id="1" name="tb"/>
          <p:cNvSpPr txBox="1"/>
          <p:nvPr/>
        </p:nvSpPr>
        <p:spPr>
          <a:xfrm>
            <a:off x="288000" y="1080000"/>
            <a:ext cx="11700000" cy="55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Transformer arxitekturasi + Self-Attention mexanizmi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Kod blokining UMUMIY kontekstini to'liq qamrab oladi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An'anaviy linter: faqat qoidalar → LLM: mantiqiy tahlil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✅ Gemini 2.5 Flash tanlanganligi sabablari: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1 MILLION TOKEN kontekst oynasi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→ Butun loyiha diff matni BITTA so'rovda tahlil qilinadi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→ Fragment-fragment yuborish kerak emas — to'liq va izchil natija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O'ZBEK TILI semantikasini mukammal tushunadi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→ Texnik terminologiya + milliy til + professional uslub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3 QATLAMLI PROMPT ENGINEERING tuzilmasi: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1) System Prompt — mutaxassis roli + o'zbek tili talabi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2) Context Injection — diff matni + loyiha meta-ma'lumoti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3) Output Format — Markdown: sarlavha + ro'yxat + kod namunalari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Hallucination kamaytirish: FAQAT berilgan diff asosida fikr yuritish</a:t>
            </a:r>
          </a:p>
        </p:txBody>
      </p:sp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540000" y="1260000"/>
            <a:ext cx="1800000" cy="1980000"/>
          </a:xfrm>
          <a:prstGeom prst="rect">
            <a:avLst/>
          </a:prstGeom>
          <a:solidFill>
            <a:srgbClr val="0F2547">
              <a:alpha val="8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540000" y="1260000"/>
            <a:ext cx="1800000" cy="19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ctr"/>
            <a:r>
              <a:rPr lang="uz-UZ" altLang="en-US" sz="5800" b="1" dirty="0">
                <a:solidFill>
                  <a:srgbClr val="00C6FF"/>
                </a:solidFill>
                <a:latin typeface="Calibri"/>
              </a:rPr>
              <a:t>II</a:t>
            </a:r>
          </a:p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2520000" y="1440000"/>
            <a:ext cx="8640000" cy="1620000"/>
          </a:xfrm>
          <a:prstGeom prst="rect">
            <a:avLst/>
          </a:prstGeom>
          <a:solidFill>
            <a:srgbClr val="0F2547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2520000" y="1440000"/>
            <a:ext cx="8640000" cy="36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2628000" y="1620000"/>
            <a:ext cx="8424000" cy="12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200" b="1" dirty="0">
                <a:solidFill>
                  <a:srgbClr val="FFFFFF"/>
                </a:solidFill>
                <a:latin typeface="Calibri"/>
              </a:rPr>
              <a:t>BOB: ARXITEKTURA VA</a:t>
            </a:r>
          </a:p>
          <a:p>
            <a:pPr/>
            <a:r>
              <a:rPr lang="uz-UZ" altLang="en-US" sz="2200" b="1" dirty="0">
                <a:solidFill>
                  <a:srgbClr val="FFFFFF"/>
                </a:solidFill>
                <a:latin typeface="Calibri"/>
              </a:rPr>
              <a:t>DASTURIY TIZIMNI LOYIHALASHTIRISH</a:t>
            </a:r>
          </a:p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540000" y="3600000"/>
            <a:ext cx="11160000" cy="2880000"/>
          </a:xfrm>
          <a:prstGeom prst="rect">
            <a:avLst/>
          </a:prstGeom>
          <a:solidFill>
            <a:srgbClr val="0F2547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720000" y="3780000"/>
            <a:ext cx="10800000" cy="2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6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2.1 — Funksional talablar, 5 ta asosiy modul va mantiqiy model</a:t>
            </a:r>
          </a:p>
          <a:p>
            <a:pPr>
              <a:spcBef>
                <a:spcPts val="6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2.2 — Router-Controller andozasida backend arxitekturasi</a:t>
            </a:r>
          </a:p>
          <a:p>
            <a:pPr>
              <a:spcBef>
                <a:spcPts val="6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2.3 — Frontend-Backend integratsiyasi va axborot oqimlari</a:t>
            </a:r>
          </a:p>
        </p:txBody>
      </p:sp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Tizimning 5 Ta Asosiy Moduli — Mantiqiy Model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10</a:t>
            </a:r>
          </a:p>
        </p:txBody>
      </p:sp>
      <p:sp>
        <p:nvSpPr>
          <p:cNvPr id="1" name="tb"/>
          <p:cNvSpPr txBox="1"/>
          <p:nvPr/>
        </p:nvSpPr>
        <p:spPr>
          <a:xfrm>
            <a:off x="288000" y="1080000"/>
            <a:ext cx="11700000" cy="55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40"/>
              </a:spcBef>
            </a:pPr>
            <a:r>
              <a:rPr lang="uz-UZ" altLang="en-US" sz="1300" dirty="0">
                <a:solidFill>
                  <a:srgbClr val="FFFFFF"/>
                </a:solidFill>
                <a:latin typeface="Calibri"/>
              </a:rPr>
              <a:t>1️⃣  HOME — Kirish moduli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GitHub/GitLab URL qabul qilish, Regex validatsiya, yuklanish animatsiyasi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dirty="0">
                <a:solidFill>
                  <a:srgbClr val="FFFFFF"/>
                </a:solidFill>
                <a:latin typeface="Calibri"/>
              </a:rPr>
              <a:t>2️⃣  COMMITS — Repository Explorer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Commitlar tarixi, qidiruv (xabar/muallif/ID), 4 ta statistik kartochka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Commit tanlash → ma'lumot zanjiri orqali keyingi sahifaga uzatish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dirty="0">
                <a:solidFill>
                  <a:srgbClr val="FFFFFF"/>
                </a:solidFill>
                <a:latin typeface="Calibri"/>
              </a:rPr>
              <a:t>3️⃣  DIFF VIEWER — Kod Vizualizatsiya yadro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Yashil (+) = qo'shilgan  |  Qizil (-) = o'chirilgan  |  Chap: fayllar paneli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dirty="0">
                <a:solidFill>
                  <a:srgbClr val="FFFFFF"/>
                </a:solidFill>
                <a:latin typeface="Calibri"/>
              </a:rPr>
              <a:t>4️⃣  AI ANALYSIS — Gemini Semantik Hisoboti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O'zbek tilida: sintaktik tahlil + biznes/xavfsizlik mantiqi + Auto-fix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dirty="0">
                <a:solidFill>
                  <a:srgbClr val="FFFFFF"/>
                </a:solidFill>
                <a:latin typeface="Calibri"/>
              </a:rPr>
              <a:t>5️⃣  DASHBOARD — Loyiha Analitikasi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Top fayllar grafigi + Dasturchilar reytingi (Leaderboard)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SPA arxitektura: Brauzer QAYTA YUKLANMAYDI — history.pushState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Nofunksional talablar: &lt;200ms API javob, 50+ parallel so'rov, CORS himoya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Home Page — Tizimning Kirish Moduli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11</a:t>
            </a:r>
          </a:p>
        </p:txBody>
      </p:sp>
      <p:pic>
        <p:nvPicPr>
          <p:cNvPr id="10" name="img"/>
          <p:cNvPicPr/>
          <p:nvPr/>
        </p:nvPicPr>
        <p:blipFill>
          <a:blip r:embed="rId6"/>
          <a:stretch>
            <a:fillRect/>
          </a:stretch>
        </p:blipFill>
        <p:spPr>
          <a:xfrm>
            <a:off x="180000" y="1044000"/>
            <a:ext cx="7920000" cy="5220000"/>
          </a:xfrm>
          <a:prstGeom prst="rect">
            <a:avLst/>
          </a:prstGeom>
        </p:spPr>
      </p:pic>
      <p:sp>
        <p:nvSpPr>
          <p:cNvPr id="2" name="r"/>
          <p:cNvSpPr>
            <a:spLocks noGrp="1"/>
          </p:cNvSpPr>
          <p:nvPr/>
        </p:nvSpPr>
        <p:spPr>
          <a:xfrm>
            <a:off x="158400" y="1022400"/>
            <a:ext cx="7963200" cy="216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58400" y="6263999"/>
            <a:ext cx="7963200" cy="216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58400" y="1022400"/>
            <a:ext cx="21600" cy="526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100000" y="1022400"/>
            <a:ext cx="21600" cy="526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352000" y="1044000"/>
            <a:ext cx="3708000" cy="5220000"/>
          </a:xfrm>
          <a:prstGeom prst="rect">
            <a:avLst/>
          </a:prstGeom>
          <a:solidFill>
            <a:srgbClr val="0a1628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352000" y="1044000"/>
            <a:ext cx="36000" cy="5220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8460000" y="1152000"/>
            <a:ext cx="3528000" cy="4968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GitHub/GitLab URL manzilini qabul qiladi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Regex validatsiya: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URL formati va xavfsizlik tekshiruvi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Progressiv loading animatsiyasi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Tayyor ommabop repozitoriyalar ro'yxati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Dark Mode dizayn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Neon effektli zamonaviy interfeys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Backend bilan asinxron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so'rov-javob sikli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Commits Sahifasi — Repository Explorer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12</a:t>
            </a:r>
          </a:p>
        </p:txBody>
      </p:sp>
      <p:pic>
        <p:nvPicPr>
          <p:cNvPr id="10" name="img"/>
          <p:cNvPicPr/>
          <p:nvPr/>
        </p:nvPicPr>
        <p:blipFill>
          <a:blip r:embed="rId7"/>
          <a:stretch>
            <a:fillRect/>
          </a:stretch>
        </p:blipFill>
        <p:spPr>
          <a:xfrm>
            <a:off x="180000" y="1044000"/>
            <a:ext cx="7920000" cy="5220000"/>
          </a:xfrm>
          <a:prstGeom prst="rect">
            <a:avLst/>
          </a:prstGeom>
        </p:spPr>
      </p:pic>
      <p:sp>
        <p:nvSpPr>
          <p:cNvPr id="2" name="r"/>
          <p:cNvSpPr>
            <a:spLocks noGrp="1"/>
          </p:cNvSpPr>
          <p:nvPr/>
        </p:nvSpPr>
        <p:spPr>
          <a:xfrm>
            <a:off x="158400" y="1022400"/>
            <a:ext cx="7963200" cy="216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58400" y="6263999"/>
            <a:ext cx="7963200" cy="216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58400" y="1022400"/>
            <a:ext cx="21600" cy="526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100000" y="1022400"/>
            <a:ext cx="21600" cy="526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352000" y="1044000"/>
            <a:ext cx="3708000" cy="5220000"/>
          </a:xfrm>
          <a:prstGeom prst="rect">
            <a:avLst/>
          </a:prstGeom>
          <a:solidFill>
            <a:srgbClr val="0a1628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352000" y="1044000"/>
            <a:ext cx="36000" cy="5220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8460000" y="1152000"/>
            <a:ext cx="3528000" cy="4968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Backend klonlashdan so'ng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avtomatik o'tish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Real vaqt qidiruv: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xabar / muallif / commit ID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4 ta statistik kartochka: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commit soni, qatorlar,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mualliflar, o'zgargan fayllar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Commit tanlash →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Diff sahifasiga yo'naltirish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Sorting va filtering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imkoniyatlari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Router-Controller Andozasi — Backend Arxitekturasi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13</a:t>
            </a:r>
          </a:p>
        </p:txBody>
      </p:sp>
      <p:sp>
        <p:nvSpPr>
          <p:cNvPr id="1" name="tb"/>
          <p:cNvSpPr txBox="1"/>
          <p:nvPr/>
        </p:nvSpPr>
        <p:spPr>
          <a:xfrm>
            <a:off x="288000" y="1080000"/>
            <a:ext cx="11700000" cy="55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ROUTER QATLAMI (routes/) — faqat endpoint va HTTP metodlar: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gitRoutes.js → /api/git/clone, /api/git/commits, /api/git/diff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aiRoutes.js  → /api/ai/analyze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CONTROLLER QATLAMI (controllers/) — biznes mantiq: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gitController.js → simple-git: clone, log, diff, parse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aiController.js  → Gemini SDK: prompt injection, semantik tahlil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✅ LOOSE COUPLING — komponentlar mustaqil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Gemini o'rniga boshqa LLM = FAQAT 1 fayl o'zgartirish!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Global Error Handling Middleware: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try/catch barcha controllerlarda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HTTP 400/404/500 + O'zbek tilida xabar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Non-blocking I/O: sekundiga 50+ asinxron so'rov parallel qayta ishlash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Kesh mexanizmi: klonlangan repolar lokal saqlanadi — tezlik oshadi</a:t>
            </a:r>
          </a:p>
        </p:txBody>
      </p:sp>
    </p:spTree>
  </p:cSld>
  <p:clrMapOvr>
    <a:masterClr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Axborot Oqimlari — Mantiqiy Blok-Sxema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14</a:t>
            </a:r>
          </a:p>
        </p:txBody>
      </p:sp>
      <p:pic>
        <p:nvPicPr>
          <p:cNvPr id="10" name="img"/>
          <p:cNvPicPr/>
          <p:nvPr/>
        </p:nvPicPr>
        <p:blipFill>
          <a:blip r:embed="rId8"/>
          <a:stretch>
            <a:fillRect/>
          </a:stretch>
        </p:blipFill>
        <p:spPr>
          <a:xfrm>
            <a:off x="360000" y="1044000"/>
            <a:ext cx="11473200" cy="4860000"/>
          </a:xfrm>
          <a:prstGeom prst="rect">
            <a:avLst/>
          </a:prstGeom>
        </p:spPr>
      </p:pic>
      <p:sp>
        <p:nvSpPr>
          <p:cNvPr id="2" name="r"/>
          <p:cNvSpPr>
            <a:spLocks noGrp="1"/>
          </p:cNvSpPr>
          <p:nvPr/>
        </p:nvSpPr>
        <p:spPr>
          <a:xfrm>
            <a:off x="360000" y="1044000"/>
            <a:ext cx="11473200" cy="216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360000" y="5903999"/>
            <a:ext cx="11473200" cy="216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360000" y="5940000"/>
            <a:ext cx="11473200" cy="720000"/>
          </a:xfrm>
          <a:prstGeom prst="rect">
            <a:avLst/>
          </a:prstGeom>
          <a:solidFill>
            <a:srgbClr val="0a1628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540000" y="5940000"/>
            <a:ext cx="11160000" cy="7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30"/>
              </a:spcBef>
            </a:pPr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100" dirty="0">
                <a:solidFill>
                  <a:srgbClr val="B0C4DE"/>
                </a:solidFill>
                <a:latin typeface="Calibri"/>
              </a:rPr>
              <a:t>React Frontend → Axios so'rov → Express Router → Controller → Git/AI yadrolar → JSON Response</a:t>
            </a:r>
          </a:p>
          <a:p>
            <a:pPr>
              <a:spcBef>
                <a:spcPts val="30"/>
              </a:spcBef>
            </a:pPr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100" dirty="0">
                <a:solidFill>
                  <a:srgbClr val="B0C4DE"/>
                </a:solidFill>
                <a:latin typeface="Calibri"/>
              </a:rPr>
              <a:t>Parallel asinxron qayta ishlash  |  Har qatlam mustaqil  |  SPA: brauzer qayta yuklanmaydi</a:t>
            </a:r>
          </a:p>
        </p:txBody>
      </p:sp>
    </p:spTree>
  </p:cSld>
  <p:clrMapOvr>
    <a:masterClr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Diff Viewer — Kod O'zgarishlarini Vizualizatsiya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15</a:t>
            </a:r>
          </a:p>
        </p:txBody>
      </p:sp>
      <p:pic>
        <p:nvPicPr>
          <p:cNvPr id="10" name="img"/>
          <p:cNvPicPr/>
          <p:nvPr/>
        </p:nvPicPr>
        <p:blipFill>
          <a:blip r:embed="rId9"/>
          <a:stretch>
            <a:fillRect/>
          </a:stretch>
        </p:blipFill>
        <p:spPr>
          <a:xfrm>
            <a:off x="180000" y="1044000"/>
            <a:ext cx="7920000" cy="5220000"/>
          </a:xfrm>
          <a:prstGeom prst="rect">
            <a:avLst/>
          </a:prstGeom>
        </p:spPr>
      </p:pic>
      <p:sp>
        <p:nvSpPr>
          <p:cNvPr id="2" name="r"/>
          <p:cNvSpPr>
            <a:spLocks noGrp="1"/>
          </p:cNvSpPr>
          <p:nvPr/>
        </p:nvSpPr>
        <p:spPr>
          <a:xfrm>
            <a:off x="158400" y="1022400"/>
            <a:ext cx="7963200" cy="216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58400" y="6263999"/>
            <a:ext cx="7963200" cy="216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58400" y="1022400"/>
            <a:ext cx="21600" cy="526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100000" y="1022400"/>
            <a:ext cx="21600" cy="526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352000" y="1044000"/>
            <a:ext cx="3708000" cy="5220000"/>
          </a:xfrm>
          <a:prstGeom prst="rect">
            <a:avLst/>
          </a:prstGeom>
          <a:solidFill>
            <a:srgbClr val="0a1628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352000" y="1044000"/>
            <a:ext cx="36000" cy="5220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8460000" y="1152000"/>
            <a:ext cx="3528000" cy="4968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Commit tanlanganda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backend bilan asinxron bog'lanish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YASHIL satir (+):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qo'shilgan kod qatorlari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QIZIL satir (-):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o'chirilgan kod qatorlari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Chap panel: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o'zgargan fayllar ro'yxati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O'ng panel: diff viewer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'AI izohi' tugmasi →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Gemini tahlilini boshlash</a:t>
            </a:r>
          </a:p>
        </p:txBody>
      </p:sp>
    </p:spTree>
  </p:cSld>
  <p:clrMapOvr>
    <a:masterClr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Frontend-Backend Integratsiyasi — RESTful Arxitektura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16</a:t>
            </a:r>
          </a:p>
        </p:txBody>
      </p:sp>
      <p:sp>
        <p:nvSpPr>
          <p:cNvPr id="1" name="tb"/>
          <p:cNvSpPr txBox="1"/>
          <p:nvPr/>
        </p:nvSpPr>
        <p:spPr>
          <a:xfrm>
            <a:off x="288000" y="1080000"/>
            <a:ext cx="11700000" cy="55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RESTful API arxitekturasi — HTTP/JSON protokoli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React → Axios asinxron so'rov → Express.js backend → JSON javob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CORS xavfsizlik sozlamasi: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Faqat ruxsat etilgan domenlardan so'rovlarni qabul qilish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CSRF hujumlarining oldini olish — birinchi himoya qatlami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3 qatlamli axborot oqimi: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1) React: so'rov + yuklanish animatsiyasi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2) Express: marshrutlash → Controller → Git/AI yadro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3) JSON javob → React state → DOM qayta chizish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Global holat boshqaruvi (State Management):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App.jsx markaziy useState — 5 sahifaga prop drilling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✅ Kesh mexanizmi: klonlangan repolar lokal — qayta so'rovda internet yo'q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API kalitlar: dotenv — GitHub'ga tasodifan tushib qolmaslik kafolati</a:t>
            </a:r>
          </a:p>
        </p:txBody>
      </p:sp>
    </p:spTree>
  </p:cSld>
  <p:clrMapOvr>
    <a:masterClr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540000" y="1260000"/>
            <a:ext cx="1800000" cy="1980000"/>
          </a:xfrm>
          <a:prstGeom prst="rect">
            <a:avLst/>
          </a:prstGeom>
          <a:solidFill>
            <a:srgbClr val="0F2547">
              <a:alpha val="8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540000" y="1260000"/>
            <a:ext cx="1800000" cy="19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ctr"/>
            <a:r>
              <a:rPr lang="uz-UZ" altLang="en-US" sz="5800" b="1" dirty="0">
                <a:solidFill>
                  <a:srgbClr val="00C6FF"/>
                </a:solidFill>
                <a:latin typeface="Calibri"/>
              </a:rPr>
              <a:t>III</a:t>
            </a:r>
          </a:p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2520000" y="1440000"/>
            <a:ext cx="8640000" cy="1620000"/>
          </a:xfrm>
          <a:prstGeom prst="rect">
            <a:avLst/>
          </a:prstGeom>
          <a:solidFill>
            <a:srgbClr val="0F2547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2520000" y="1440000"/>
            <a:ext cx="8640000" cy="36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2628000" y="1620000"/>
            <a:ext cx="8424000" cy="12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200" b="1" dirty="0">
                <a:solidFill>
                  <a:srgbClr val="FFFFFF"/>
                </a:solidFill>
                <a:latin typeface="Calibri"/>
              </a:rPr>
              <a:t>BOB: AMALIY REALIZATSIYA</a:t>
            </a:r>
          </a:p>
          <a:p>
            <a:pPr/>
            <a:r>
              <a:rPr lang="uz-UZ" altLang="en-US" sz="2200" b="1" dirty="0">
                <a:solidFill>
                  <a:srgbClr val="FFFFFF"/>
                </a:solidFill>
                <a:latin typeface="Calibri"/>
              </a:rPr>
              <a:t>VA SINOV NATIJALARI</a:t>
            </a:r>
          </a:p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540000" y="3600000"/>
            <a:ext cx="11160000" cy="2880000"/>
          </a:xfrm>
          <a:prstGeom prst="rect">
            <a:avLst/>
          </a:prstGeom>
          <a:solidFill>
            <a:srgbClr val="0F2547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720000" y="3780000"/>
            <a:ext cx="10800000" cy="2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6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3.1 — Node.js/Express.js backend: klonlash va diff tahlil funksionalligi</a:t>
            </a:r>
          </a:p>
          <a:p>
            <a:pPr>
              <a:spcBef>
                <a:spcPts val="6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3.2 — React SPA frontend: 5 sahifali ma'lumotlar zanjiri</a:t>
            </a:r>
          </a:p>
          <a:p>
            <a:pPr>
              <a:spcBef>
                <a:spcPts val="6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 ▸  </a:t>
            </a: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3.3 — Real repozitoriyalarda sinov va AI semantik hisobotlar tahlili</a:t>
            </a:r>
          </a:p>
        </p:txBody>
      </p:sp>
    </p:spTree>
  </p:cSld>
  <p:clrMapOvr>
    <a:masterClr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Backend Texnik Stack — Node.js/Express.js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18</a:t>
            </a:r>
          </a:p>
        </p:txBody>
      </p:sp>
      <p:sp>
        <p:nvSpPr>
          <p:cNvPr id="1" name="tb"/>
          <p:cNvSpPr txBox="1"/>
          <p:nvPr/>
        </p:nvSpPr>
        <p:spPr>
          <a:xfrm>
            <a:off x="288000" y="1080000"/>
            <a:ext cx="11700000" cy="55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Node.js — asinxron non-blocking I/O muhiti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EventLoop: server yadrosini bloklamasdan parallel so'rovlar qayta ishlash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Express.js — Router-Controller andoza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simple-git — Git operatsiyalari: clone, log, diff, pull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URL sanitizatsiya → unikal klonlash jildi → diff generatsiya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jsdiff — Mayers diff algoritmi, structured JSON parsing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@google/generative-ai — Gemini 2.5 Flash SDK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dotenv — API kalitlar muhit o'zgaruvchilari (xavfsizlik)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cors — Cross-Origin xavfsizlik protokoli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✅ Klonlash optimizatsiyasi: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Agar repo lokal mavjud → qayta yuklamasdan pull bilan yangilash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✅ Xatolik boshqaruvi: try/catch + Global Middleware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HTTP 400 (noto'g'ri so'rov) | 404 (topilmadi) | 500 (server xatosi)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Barcha xatoliklar o'zbek tilida foydalanuvchiga tushunarli xabar</a:t>
            </a:r>
          </a:p>
        </p:txBody>
      </p:sp>
    </p:spTree>
  </p:cSld>
  <p:clrMapOvr>
    <a:masterClr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Frontend Texnik Stack — React SPA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19</a:t>
            </a:r>
          </a:p>
        </p:txBody>
      </p:sp>
      <p:sp>
        <p:nvSpPr>
          <p:cNvPr id="1" name="tb"/>
          <p:cNvSpPr txBox="1"/>
          <p:nvPr/>
        </p:nvSpPr>
        <p:spPr>
          <a:xfrm>
            <a:off x="288000" y="1080000"/>
            <a:ext cx="11700000" cy="55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React 18 — komponentli SPA arxitektura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Virtual DOM: FAQAT o'zgargan komponent qayta chiziladi — tezlik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useState + useEffect — holat boshqaruvi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App.jsx markaziy xotira → 5 sahifaga prop drilling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history.pushState — URL yo'llari dinamik yangilanadi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Axios — HTTP interceptors, asinxron so'rovlar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Global baseURL + so'rov/javob interceptorlari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Double-submit xatolarining oldini olish (loading state)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ReactMarkdown — AI hisobotini render qilish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Markdown → chiroyli formatlangan professional tahlil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CSS Dark Mode — Neon effektlar, progress animatsiyalari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Virtual Scrolling: 10000+ qatorli diff-ni brauzer muzlatmasdan ko'rsatish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Exponential Backoff Retry: API nosozligida avtomatik qayta urinish</a:t>
            </a:r>
          </a:p>
        </p:txBody>
      </p:sp>
    </p:spTree>
  </p:cSld>
  <p:clrMapOvr>
    <a:masterClr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AI Semantik Hisobot — Google Gemini Natijasi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20</a:t>
            </a:r>
          </a:p>
        </p:txBody>
      </p:sp>
      <p:pic>
        <p:nvPicPr>
          <p:cNvPr id="10" name="img"/>
          <p:cNvPicPr/>
          <p:nvPr/>
        </p:nvPicPr>
        <p:blipFill>
          <a:blip r:embed="rId10"/>
          <a:stretch>
            <a:fillRect/>
          </a:stretch>
        </p:blipFill>
        <p:spPr>
          <a:xfrm>
            <a:off x="180000" y="1044000"/>
            <a:ext cx="7920000" cy="5220000"/>
          </a:xfrm>
          <a:prstGeom prst="rect">
            <a:avLst/>
          </a:prstGeom>
        </p:spPr>
      </p:pic>
      <p:sp>
        <p:nvSpPr>
          <p:cNvPr id="2" name="r"/>
          <p:cNvSpPr>
            <a:spLocks noGrp="1"/>
          </p:cNvSpPr>
          <p:nvPr/>
        </p:nvSpPr>
        <p:spPr>
          <a:xfrm>
            <a:off x="158400" y="1022400"/>
            <a:ext cx="7963200" cy="216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58400" y="6263999"/>
            <a:ext cx="7963200" cy="216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58400" y="1022400"/>
            <a:ext cx="21600" cy="526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100000" y="1022400"/>
            <a:ext cx="21600" cy="526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352000" y="1044000"/>
            <a:ext cx="3708000" cy="5220000"/>
          </a:xfrm>
          <a:prstGeom prst="rect">
            <a:avLst/>
          </a:prstGeom>
          <a:solidFill>
            <a:srgbClr val="0a1628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352000" y="1044000"/>
            <a:ext cx="36000" cy="5220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8460000" y="1152000"/>
            <a:ext cx="3528000" cy="4968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O'zbek tilida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professional tahlil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Sintaktik o'zgarishlar: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nima o'zgargan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Biznes/Xavfsizlik: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nima uchun o'zgargan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Auto-fix tavsiyalar: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tayyor kod namunalari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Markdown formatida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render qilinadi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Hallucination kamaytirish: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faqat diff asosida</a:t>
            </a:r>
          </a:p>
        </p:txBody>
      </p:sp>
    </p:spTree>
  </p:cSld>
  <p:clrMapOvr>
    <a:masterClr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Dashboard — Loyiha Analitikasi va Monitoring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21</a:t>
            </a:r>
          </a:p>
        </p:txBody>
      </p:sp>
      <p:pic>
        <p:nvPicPr>
          <p:cNvPr id="10" name="img"/>
          <p:cNvPicPr/>
          <p:nvPr/>
        </p:nvPicPr>
        <p:blipFill>
          <a:blip r:embed="rId11"/>
          <a:stretch>
            <a:fillRect/>
          </a:stretch>
        </p:blipFill>
        <p:spPr>
          <a:xfrm>
            <a:off x="180000" y="1044000"/>
            <a:ext cx="7920000" cy="5220000"/>
          </a:xfrm>
          <a:prstGeom prst="rect">
            <a:avLst/>
          </a:prstGeom>
        </p:spPr>
      </p:pic>
      <p:sp>
        <p:nvSpPr>
          <p:cNvPr id="2" name="r"/>
          <p:cNvSpPr>
            <a:spLocks noGrp="1"/>
          </p:cNvSpPr>
          <p:nvPr/>
        </p:nvSpPr>
        <p:spPr>
          <a:xfrm>
            <a:off x="158400" y="1022400"/>
            <a:ext cx="7963200" cy="216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58400" y="6263999"/>
            <a:ext cx="7963200" cy="216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58400" y="1022400"/>
            <a:ext cx="21600" cy="526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100000" y="1022400"/>
            <a:ext cx="21600" cy="526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352000" y="1044000"/>
            <a:ext cx="3708000" cy="5220000"/>
          </a:xfrm>
          <a:prstGeom prst="rect">
            <a:avLst/>
          </a:prstGeom>
          <a:solidFill>
            <a:srgbClr val="0a1628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8352000" y="1044000"/>
            <a:ext cx="36000" cy="5220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8460000" y="1152000"/>
            <a:ext cx="3528000" cy="4968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Umumiy statistika: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commitlar, qatorlar,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mualliflar soni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Top fayllar grafigi: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progress-bar animatsiya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(binafsha-yashil ranglar)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Dasturchilar reytingi: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Leaderboard — eng faol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jamoa a'zolari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Real vaqtda hisoblash</a:t>
            </a:r>
          </a:p>
          <a:p>
            <a:pPr>
              <a:spcBef>
                <a:spcPts val="4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00C6FF"/>
                </a:solidFill>
                <a:latin typeface="Calibri"/>
              </a:rPr>
              <a:t> ▸ Loyiha audit uchun</a:t>
            </a:r>
          </a:p>
          <a:p>
            <a:pPr>
              <a:spcBef>
                <a:spcPts val="10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monitoring vositasi</a:t>
            </a:r>
          </a:p>
        </p:txBody>
      </p:sp>
    </p:spTree>
  </p:cSld>
  <p:clrMapOvr>
    <a:masterClr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Sinov Natijalari — Real Repozitoriyalarda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22</a:t>
            </a:r>
          </a:p>
        </p:txBody>
      </p:sp>
      <p:sp>
        <p:nvSpPr>
          <p:cNvPr id="1" name="tb"/>
          <p:cNvSpPr txBox="1"/>
          <p:nvPr/>
        </p:nvSpPr>
        <p:spPr>
          <a:xfrm>
            <a:off x="288000" y="1080000"/>
            <a:ext cx="11700000" cy="55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Real GitHub repozitoriyalari ustida sinov: JavaScript ekotizimi, murakkab loyihalar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✅ Barcha 5 modul muvaffaqiyatli ishladi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✅ AI o'zbek tilida professional semantik hisobot berdi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✅ Kiberxavfsizlik kamchiliklari avtomatik aniqlandi</a:t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✅ Auto-fix: tayyor optimallashtirilgan kod namunalari generatsiya qilindi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ASOSIY O'LCHOVLI NATIJALAR: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Code Review vaqti 40-50% qisqardi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Mantiqiy xatolarni aniqlash aniqligi sezilarli oshdi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AI hallucination kamaytirish samarali ishladi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Dashboard: commitlar, qatorlar, mualliflar statistikasi real vaqtda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Nofunksional talablar bajarildi: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Ishlash tezligi: oddiy API so'rovlar &lt; 200ms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Ishonchlilik: Global Error Handling + Retry mexanizmi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Xavfsizlik: Regex validatsiya + CORS + dotenv API kalit himoyasi</a:t>
            </a:r>
          </a:p>
        </p:txBody>
      </p:sp>
    </p:spTree>
  </p:cSld>
  <p:clrMapOvr>
    <a:masterClr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Ilmiy Yangilik va Amaliy Ahamiyat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23</a:t>
            </a:r>
          </a:p>
        </p:txBody>
      </p:sp>
      <p:sp>
        <p:nvSpPr>
          <p:cNvPr id="1" name="tb"/>
          <p:cNvSpPr txBox="1"/>
          <p:nvPr/>
        </p:nvSpPr>
        <p:spPr>
          <a:xfrm>
            <a:off x="288000" y="1080000"/>
            <a:ext cx="11700000" cy="55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ILMIY YANGILIK: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Kod o'zgarishlarini LLM yordamida o'ZBEK TILIDA semantik tahlil qilishning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integratsiyalashgan mantiqiy-arxitekturaviy modeli birinchi marta ishlab chiqildi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AMALIY AHAMIYAT: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✅ IT kompaniyalar uchun Code Review avtomatizatsiyasi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✅ Loyiha audit va monitoring tizimi — real vaqt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✅ Jamoa faolligini kuzatish (Dashboard + Leaderboard)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✅ Dasturiy xavfsizlikni ta'minlash vositasi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C6FF"/>
                </a:solidFill>
                <a:latin typeface="Calibri"/>
              </a:rPr>
              <a:t>▸ KELAJAKDAGI CHEKLOVLAR: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Tashqi bulutli API — ma'lumotlar xavfsizligi masalasi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Lokal LLM modeli zarur (Llama-3, CodeLlama, DeepSeek-Coder)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IQTISODIY AHAMIYAT: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Adapter Pattern orqali tashqi + lokal LLM ga moslashtirilgan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Korporativ NDAs va GDPR talablariga javob bera oladi</a:t>
            </a:r>
          </a:p>
        </p:txBody>
      </p:sp>
    </p:spTree>
  </p:cSld>
  <p:clrMapOvr>
    <a:masterClr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24</a:t>
            </a:r>
          </a:p>
        </p:txBody>
      </p:sp>
      <p:sp>
        <p:nvSpPr>
          <p:cNvPr id="1" name="tb"/>
          <p:cNvSpPr txBox="1"/>
          <p:nvPr/>
        </p:nvSpPr>
        <p:spPr>
          <a:xfrm>
            <a:off x="288000" y="1080000"/>
            <a:ext cx="11700000" cy="55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40"/>
              </a:spcBef>
            </a:pPr>
            <a:r>
              <a:rPr lang="uz-UZ" altLang="en-US" sz="1300" dirty="0">
                <a:solidFill>
                  <a:srgbClr val="FFFFFF"/>
                </a:solidFill>
                <a:latin typeface="Calibri"/>
              </a:rPr>
              <a:t>1️⃣  An'anaviy diff vositalari faqat sintaktik darajada qoladi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Semantik tahlil uchun AI integratsiya ZARUR ekanligi isbotlandi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dirty="0">
                <a:solidFill>
                  <a:srgbClr val="FFFFFF"/>
                </a:solidFill>
                <a:latin typeface="Calibri"/>
              </a:rPr>
              <a:t>2️⃣  Router-Controller + React SPA arxitekturasi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Barqarorlik, tezkorlik va modullilikni ta'minladi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dirty="0">
                <a:solidFill>
                  <a:srgbClr val="FFFFFF"/>
                </a:solidFill>
                <a:latin typeface="Calibri"/>
              </a:rPr>
              <a:t>3️⃣  Gemini 2.5 Flash: o'zbek tilida professional semantik hisobot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3 qatlamli Prompt Engineering tuzilmasi muvaffaqiyatli ishladi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dirty="0">
                <a:solidFill>
                  <a:srgbClr val="FFFFFF"/>
                </a:solidFill>
                <a:latin typeface="Calibri"/>
              </a:rPr>
              <a:t>4️⃣  Real sinov natijalari: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Code Review vaqti 40-50% qisqardi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 Kiberxavfsizlik muammolari avtomatik aniqlanadi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📌 Ishlab chiqilgan SPA veb-platforma IT kompaniyalar uchun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tayyor amaliy dasturiy mahsulot sifatida foydalanishga tayyor!</a:t>
            </a:r>
          </a:p>
        </p:txBody>
      </p:sp>
    </p:spTree>
  </p:cSld>
  <p:clrMapOvr>
    <a:masterClr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972000"/>
            <a:ext cx="12193200" cy="432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80000" y="144000"/>
            <a:ext cx="108000" cy="684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432000" y="108000"/>
            <a:ext cx="11160000" cy="792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/>
            <a:r>
              <a:rPr lang="uz-UZ" altLang="en-US" sz="2100" b="1" dirty="0">
                <a:solidFill>
                  <a:srgbClr val="FFFFFF"/>
                </a:solidFill>
                <a:latin typeface="Calibri"/>
              </a:rPr>
              <a:t>Takliflar va Kelajak Istiqbollari</a:t>
            </a:r>
          </a:p>
        </p:txBody>
      </p:sp>
      <p:sp>
        <p:nvSpPr>
          <p:cNvPr id="1" name="tb"/>
          <p:cNvSpPr txBox="1"/>
          <p:nvPr/>
        </p:nvSpPr>
        <p:spPr>
          <a:xfrm>
            <a:off x="11340000" y="6408000"/>
            <a:ext cx="7200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r"/>
            <a:r>
              <a:rPr lang="uz-UZ" altLang="en-US" sz="1100" dirty="0">
                <a:solidFill>
                  <a:srgbClr val="00C6FF"/>
                </a:solidFill>
                <a:latin typeface="Calibri"/>
              </a:rPr>
              <a:t>25</a:t>
            </a:r>
          </a:p>
        </p:txBody>
      </p:sp>
      <p:sp>
        <p:nvSpPr>
          <p:cNvPr id="1" name="tb"/>
          <p:cNvSpPr txBox="1"/>
          <p:nvPr/>
        </p:nvSpPr>
        <p:spPr>
          <a:xfrm>
            <a:off x="288000" y="1080000"/>
            <a:ext cx="11700000" cy="558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🔷 CI/CD Integratsiya — GitHub Actions/GitLab CI plagin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Har commitda avtomatik AI tahlil → dasturchi ogohlantirish oladi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🔷 Lokal LLM modeli — Llama-3, CodeLlama, DeepSeek-Coder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Ma'lumotlar maxfiyligi — GDPR muvofiqlik, korporativ tarmoq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🔷 Shaxsiylashtirilgan Prompt Sozlash Paneli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Kompaniya ichki standartlariga moslashtirilgan tahlil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🔷 Interaktiv Vizualizatsiya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Fayllararo bog'liqlik grafigi, arxitektura diagrammasi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🔷 Ko'p tillik qo'llab-quvvatlash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Rus, ingliz, qozoq tillarida semantik hisobotlar</a:t>
            </a:r>
          </a:p>
          <a:p>
            <a:pPr>
              <a:spcBef>
                <a:spcPts val="2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"/>
              </a:spcBef>
            </a:pPr>
            <a:r>
              <a:rPr lang="uz-UZ" altLang="en-US" sz="1300" b="1" dirty="0">
                <a:solidFill>
                  <a:srgbClr val="00E676"/>
                </a:solidFill>
                <a:latin typeface="Calibri"/>
              </a:rPr>
              <a:t>🔷 Korporativ Dashboard — Jamoa samaradorligi monitoring tizimi</a:t>
            </a:r>
          </a:p>
          <a:p>
            <a:pPr>
              <a:spcBef>
                <a:spcPts val="40"/>
              </a:spcBef>
            </a:pPr>
            <a:r>
              <a:rPr lang="uz-UZ" altLang="en-US" sz="1200" dirty="0">
                <a:solidFill>
                  <a:srgbClr val="B0C4DE"/>
                </a:solidFill>
                <a:latin typeface="Calibri"/>
              </a:rPr>
              <a:t>   SonarQube + LLM kombinatsiyasi — to'liq kod sifat portali</a:t>
            </a:r>
          </a:p>
        </p:txBody>
      </p:sp>
    </p:spTree>
  </p:cSld>
  <p:clrMapOvr>
    <a:masterClr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080000" y="900000"/>
            <a:ext cx="10033200" cy="504000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080000" y="900000"/>
            <a:ext cx="10033200" cy="432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1080000" y="5896800"/>
            <a:ext cx="10033200" cy="432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1080000" y="1080000"/>
            <a:ext cx="100332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ctr"/>
            <a:r>
              <a:rPr lang="uz-UZ" altLang="en-US" sz="2600" b="1" dirty="0">
                <a:solidFill>
                  <a:srgbClr val="00C6FF"/>
                </a:solidFill>
                <a:latin typeface="Calibri"/>
              </a:rPr>
              <a:t>🎓  E'tiboringiz uchun</a:t>
            </a:r>
          </a:p>
          <a:p>
            <a:pPr algn="ctr"/>
            <a:r>
              <a:rPr lang="uz-UZ" altLang="en-US" sz="3400" b="1" dirty="0">
                <a:solidFill>
                  <a:srgbClr val="FFFFFF"/>
                </a:solidFill>
                <a:latin typeface="Calibri"/>
              </a:rPr>
              <a:t>RAHMAT!</a:t>
            </a:r>
          </a:p>
        </p:txBody>
      </p:sp>
      <p:sp>
        <p:nvSpPr>
          <p:cNvPr id="2" name="r"/>
          <p:cNvSpPr>
            <a:spLocks noGrp="1"/>
          </p:cNvSpPr>
          <p:nvPr/>
        </p:nvSpPr>
        <p:spPr>
          <a:xfrm>
            <a:off x="2520000" y="2232000"/>
            <a:ext cx="7200000" cy="36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b"/>
          <p:cNvSpPr txBox="1"/>
          <p:nvPr/>
        </p:nvSpPr>
        <p:spPr>
          <a:xfrm>
            <a:off x="1080000" y="2412000"/>
            <a:ext cx="10033200" cy="324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algn="ctr">
              <a:spcBef>
                <a:spcPts val="120"/>
              </a:spcBef>
            </a:pPr>
            <a:r>
              <a:rPr lang="uz-UZ" altLang="en-US" sz="1400" i="1" dirty="0">
                <a:solidFill>
                  <a:srgbClr val="B0C4DE"/>
                </a:solidFill>
                <a:latin typeface="Calibri"/>
              </a:rPr>
              <a:t>Dasturiy versiyalar tahlil tizimi (SPA veb-platforma)</a:t>
            </a:r>
          </a:p>
          <a:p>
            <a:pPr algn="ctr">
              <a:spcBef>
                <a:spcPts val="60"/>
              </a:spcBef>
            </a:pPr>
            <a:r>
              <a:rPr lang="uz-UZ" altLang="en-US" sz="1000" dirty="0">
                <a:solidFill>
                  <a:srgbClr val="7B2FBE"/>
                </a:solidFill>
                <a:latin typeface="Calibri"/>
              </a:rPr>
              <a:t>─────────────────────────────────────</a:t>
            </a:r>
          </a:p>
          <a:p>
            <a:pPr algn="ctr">
              <a:spcBef>
                <a:spcPts val="13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>Bitiruvchi:  Amonov Sohibjon</a:t>
            </a:r>
          </a:p>
          <a:p>
            <a:pPr algn="ctr">
              <a:spcBef>
                <a:spcPts val="11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>Ilmiy rahbar:  Yusupov O.</a:t>
            </a:r>
          </a:p>
          <a:p>
            <a:pPr algn="ctr">
              <a:spcBef>
                <a:spcPts val="110"/>
              </a:spcBef>
            </a:pPr>
            <a:r>
              <a:rPr lang="uz-UZ" altLang="en-US" sz="1300" dirty="0">
                <a:solidFill>
                  <a:srgbClr val="B0C4DE"/>
                </a:solidFill>
                <a:latin typeface="Calibri"/>
              </a:rPr>
              <a:t>TATU Samarqand filiali  —  2026</a:t>
            </a:r>
          </a:p>
          <a:p>
            <a:pPr algn="ctr">
              <a:spcBef>
                <a:spcPts val="60"/>
              </a:spcBef>
            </a:pPr>
            <a:r>
              <a:rPr lang="uz-UZ" altLang="en-US" sz="1000" dirty="0">
                <a:solidFill>
                  <a:srgbClr val="7B2FBE"/>
                </a:solidFill>
                <a:latin typeface="Calibri"/>
              </a:rPr>
              <a:t>─────────────────────────────────────</a:t>
            </a:r>
          </a:p>
          <a:p>
            <a:pPr algn="ctr">
              <a:spcBef>
                <a:spcPts val="130"/>
              </a:spcBef>
            </a:pPr>
            <a:r>
              <a:rPr lang="uz-UZ" altLang="en-US" sz="1200" i="1" dirty="0">
                <a:solidFill>
                  <a:srgbClr val="00C6FF"/>
                </a:solidFill>
                <a:latin typeface="Calibri"/>
              </a:rPr>
              <a:t>React  •  Node.js  •  Express.js  •  Google Gemini AI</a:t>
            </a:r>
          </a:p>
          <a:p>
            <a:pPr algn="ctr">
              <a:spcBef>
                <a:spcPts val="130"/>
              </a:spcBef>
            </a:pPr>
            <a:r>
              <a:rPr lang="uz-UZ" altLang="en-US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Bef>
                <a:spcPts val="100"/>
              </a:spcBef>
            </a:pPr>
            <a:r>
              <a:rPr lang="uz-UZ" altLang="en-US" sz="1600" b="1" dirty="0">
                <a:solidFill>
                  <a:srgbClr val="00E676"/>
                </a:solidFill>
                <a:latin typeface="Calibri"/>
              </a:rPr>
              <a:t>💬  Savollar uchun tayyorman!</a:t>
            </a:r>
          </a:p>
        </p:txBody>
      </p:sp>
    </p:spTree>
  </p:cSld>
  <p:clrMapOvr>
    <a:masterClr/>
  </p:clrMapOvr>
</p:sld>
</file>

<file path=docProps/core.xml><?xml version="1.0" encoding="utf-8"?>
<cp:coreProperties xmlns:cp="http://schemas.openxmlformats.org/package/2006/metadata/core-properties" xmlns:dc="http://purl.org/dc/elements/1.1/">
  <dc:title>Dasturiy versiyalar tahlil tizimi - Diplom Himoya</dc:title>
  <dc:creator>Amonov Sohibjon</dc:creator>
</cp:coreProperties>
</file>