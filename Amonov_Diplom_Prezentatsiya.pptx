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docProps/core.xml" ContentType="application/vnd.openxmlformats-package.core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saveSubsetFonts="1">
  <p:sldMasterIdLst>
    <p:sldMasterId id="2147483648" r:id="rId16"/>
  </p:sldMasterIdLst>
  <p:sldIdLst>
    <p:sldId id="257" r:id="rId1"/>
    <p:sldId id="258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</p:sldIdLst>
  <p:sldSz cx="12192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" Target="slides/slide1.xml"/>
<Relationship Id="rId2" Type="http://schemas.openxmlformats.org/officeDocument/2006/relationships/slide" Target="slides/slide2.xml"/>
<Relationship Id="rId3" Type="http://schemas.openxmlformats.org/officeDocument/2006/relationships/slide" Target="slides/slide3.xml"/>
<Relationship Id="rId4" Type="http://schemas.openxmlformats.org/officeDocument/2006/relationships/slide" Target="slides/slide4.xml"/>
<Relationship Id="rId5" Type="http://schemas.openxmlformats.org/officeDocument/2006/relationships/slide" Target="slides/slide5.xml"/>
<Relationship Id="rId6" Type="http://schemas.openxmlformats.org/officeDocument/2006/relationships/slide" Target="slides/slide6.xml"/>
<Relationship Id="rId7" Type="http://schemas.openxmlformats.org/officeDocument/2006/relationships/slide" Target="slides/slide7.xml"/>
<Relationship Id="rId8" Type="http://schemas.openxmlformats.org/officeDocument/2006/relationships/slide" Target="slides/slide8.xml"/>
<Relationship Id="rId9" Type="http://schemas.openxmlformats.org/officeDocument/2006/relationships/slide" Target="slides/slide9.xml"/>
<Relationship Id="rId10" Type="http://schemas.openxmlformats.org/officeDocument/2006/relationships/slide" Target="slides/slide10.xml"/>
<Relationship Id="rId11" Type="http://schemas.openxmlformats.org/officeDocument/2006/relationships/slide" Target="slides/slide11.xml"/>
<Relationship Id="rId12" Type="http://schemas.openxmlformats.org/officeDocument/2006/relationships/slide" Target="slides/slide12.xml"/>
<Relationship Id="rId13" Type="http://schemas.openxmlformats.org/officeDocument/2006/relationships/slide" Target="slides/slide13.xml"/>
<Relationship Id="rId14" Type="http://schemas.openxmlformats.org/officeDocument/2006/relationships/slide" Target="slides/slide14.xml"/>
<Relationship Id="rId15" Type="http://schemas.openxmlformats.org/officeDocument/2006/relationships/slide" Target="slides/slide15.xml"/>
<Relationship Id="rId16" Type="http://schemas.openxmlformats.org/officeDocument/2006/relationships/slideMaster" Target="slideMasters/slideMaster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stStyle/>
    </p:titleStyle>
    <p:bodyStyle>
      <a:lstStyle/>
    </p:bodyStyle>
    <p:otherStyle>
      <a:lstStyle/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6" Type="http://schemas.openxmlformats.org/officeDocument/2006/relationships/image" Target="../media/image1.jpg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7" Type="http://schemas.openxmlformats.org/officeDocument/2006/relationships/image" Target="../media/image2.jpg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8" Type="http://schemas.openxmlformats.org/officeDocument/2006/relationships/image" Target="../media/image3.jpg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9" Type="http://schemas.openxmlformats.org/officeDocument/2006/relationships/image" Target="../media/image4.jpg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10" Type="http://schemas.openxmlformats.org/officeDocument/2006/relationships/image" Target="../media/image5.jpg"/>
</Relationships>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11" Type="http://schemas.openxmlformats.org/officeDocument/2006/relationships/image" Target="../media/image6.jpg"/>
</Relationships>
</file>

<file path=ppt/slides/_rels/slide1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251999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6606000"/>
            <a:ext cx="12193200" cy="251999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720000" y="648000"/>
            <a:ext cx="10753200" cy="5328000"/>
          </a:xfrm>
          <a:prstGeom prst="roundRect">
            <a:avLst>
              <a:gd name="adj" fmla="val 18000"/>
            </a:avLst>
          </a:prstGeom>
          <a:solidFill>
            <a:srgbClr val="0F2547">
              <a:alpha val="7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720000" y="648000"/>
            <a:ext cx="10753200" cy="360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720000" y="648000"/>
            <a:ext cx="10753200" cy="180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720000" y="5958000"/>
            <a:ext cx="10753200" cy="180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720000" y="648000"/>
            <a:ext cx="18000" cy="53280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1455200" y="648000"/>
            <a:ext cx="18000" cy="53280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900000" y="684000"/>
            <a:ext cx="10260000" cy="468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algn="ctr"/>
            <a:r>
              <a:rPr lang="uz-UZ" altLang="en-US" sz="1000" i="1" dirty="0">
                <a:solidFill>
                  <a:srgbClr val="00C6FF"/>
                </a:solidFill>
                <a:latin typeface="Calibri"/>
              </a:rPr>
              <a:t>O'ZBEKISTON RESPUBLIKASI  |  TATU SAMARQAND FILIALI  |  2026</a:t>
            </a:r>
          </a:p>
        </p:txBody>
      </p:sp>
      <p:sp>
        <p:nvSpPr>
          <p:cNvPr id="1" name="tb"/>
          <p:cNvSpPr txBox="1"/>
          <p:nvPr/>
        </p:nvSpPr>
        <p:spPr>
          <a:xfrm>
            <a:off x="900000" y="1152000"/>
            <a:ext cx="10260000" cy="432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algn="ctr"/>
            <a:r>
              <a:rPr lang="uz-UZ" altLang="en-US" sz="1300" dirty="0">
                <a:solidFill>
                  <a:srgbClr val="FFD700"/>
                </a:solidFill>
                <a:latin typeface="Calibri"/>
              </a:rPr>
              <a:t>⚡  BITIRUV MALAKAVIY ISHI  ⚡</a:t>
            </a:r>
          </a:p>
        </p:txBody>
      </p:sp>
      <p:sp>
        <p:nvSpPr>
          <p:cNvPr id="1" name="tb"/>
          <p:cNvSpPr txBox="1"/>
          <p:nvPr/>
        </p:nvSpPr>
        <p:spPr>
          <a:xfrm>
            <a:off x="900000" y="1620000"/>
            <a:ext cx="10260000" cy="162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algn="ctr">
              <a:spcBef>
                <a:spcPts val="60"/>
              </a:spcBef>
            </a:pPr>
            <a:r>
              <a:rPr lang="uz-UZ" altLang="en-US" sz="2400" b="1" dirty="0">
                <a:solidFill>
                  <a:srgbClr val="FFFFFF"/>
                </a:solidFill>
                <a:latin typeface="Calibri"/>
              </a:rPr>
              <a:t>Dasturiy versiyalar orasidagi</a:t>
            </a:r>
          </a:p>
          <a:p>
            <a:pPr algn="ctr">
              <a:spcBef>
                <a:spcPts val="60"/>
              </a:spcBef>
            </a:pPr>
            <a:r>
              <a:rPr lang="uz-UZ" altLang="en-US" sz="2400" b="1" dirty="0">
                <a:solidFill>
                  <a:srgbClr val="FFFFFF"/>
                </a:solidFill>
                <a:latin typeface="Calibri"/>
              </a:rPr>
              <a:t>o'zgarishlarni tahlil qiluvchi</a:t>
            </a:r>
          </a:p>
          <a:p>
            <a:pPr algn="ctr">
              <a:spcBef>
                <a:spcPts val="60"/>
              </a:spcBef>
            </a:pPr>
            <a:r>
              <a:rPr lang="uz-UZ" altLang="en-US" sz="2400" b="1" dirty="0">
                <a:solidFill>
                  <a:srgbClr val="FFFFFF"/>
                </a:solidFill>
                <a:latin typeface="Calibri"/>
              </a:rPr>
              <a:t>dasturiy tizimni loyihalashtirish</a:t>
            </a:r>
          </a:p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2160000" y="3420000"/>
            <a:ext cx="7920000" cy="288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900000" y="3528000"/>
            <a:ext cx="10260000" cy="216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algn="ctr">
              <a:spcBef>
                <a:spcPts val="100"/>
              </a:spcBef>
            </a:pPr>
            <a:r>
              <a:rPr lang="uz-UZ" altLang="en-US" sz="1300" b="1" dirty="0">
                <a:solidFill>
                  <a:srgbClr val="00C6FF"/>
                </a:solidFill>
                <a:latin typeface="Calibri"/>
              </a:rPr>
              <a:t>Bitiruvchi:</a:t>
            </a:r>
            <a:r>
              <a:rPr lang="uz-UZ" altLang="en-US" sz="1300" dirty="0">
                <a:solidFill>
                  <a:srgbClr val="FFFFFF"/>
                </a:solidFill>
                <a:latin typeface="Calibri"/>
              </a:rPr>
              <a:t>  Amonov Sohibjon</a:t>
            </a:r>
          </a:p>
          <a:p>
            <a:pPr algn="ctr">
              <a:spcBef>
                <a:spcPts val="90"/>
              </a:spcBef>
            </a:pPr>
            <a:r>
              <a:rPr lang="uz-UZ" altLang="en-US" sz="1300" b="1" dirty="0">
                <a:solidFill>
                  <a:srgbClr val="00C6FF"/>
                </a:solidFill>
                <a:latin typeface="Calibri"/>
              </a:rPr>
              <a:t>Ilmiy rahbar:</a:t>
            </a:r>
            <a:r>
              <a:rPr lang="uz-UZ" altLang="en-US" sz="1300" dirty="0">
                <a:solidFill>
                  <a:srgbClr val="FFFFFF"/>
                </a:solidFill>
                <a:latin typeface="Calibri"/>
              </a:rPr>
              <a:t>  Yusupov O.</a:t>
            </a:r>
          </a:p>
          <a:p>
            <a:pPr algn="ctr">
              <a:spcBef>
                <a:spcPts val="90"/>
              </a:spcBef>
            </a:pPr>
            <a:r>
              <a:rPr lang="uz-UZ" altLang="en-US" sz="1300" b="1" dirty="0">
                <a:solidFill>
                  <a:srgbClr val="00C6FF"/>
                </a:solidFill>
                <a:latin typeface="Calibri"/>
              </a:rPr>
              <a:t>HFX maslahatchi:</a:t>
            </a:r>
            <a:r>
              <a:rPr lang="uz-UZ" altLang="en-US" sz="1300" dirty="0">
                <a:solidFill>
                  <a:srgbClr val="FFFFFF"/>
                </a:solidFill>
                <a:latin typeface="Calibri"/>
              </a:rPr>
              <a:t>  Rajabov J.</a:t>
            </a:r>
          </a:p>
          <a:p>
            <a:pPr algn="ctr">
              <a:spcBef>
                <a:spcPts val="90"/>
              </a:spcBef>
            </a:pPr>
            <a:r>
              <a:rPr lang="uz-UZ" altLang="en-US" sz="1300" b="1" dirty="0">
                <a:solidFill>
                  <a:srgbClr val="00C6FF"/>
                </a:solidFill>
                <a:latin typeface="Calibri"/>
              </a:rPr>
              <a:t>Kafedra:</a:t>
            </a:r>
            <a:r>
              <a:rPr lang="uz-UZ" altLang="en-US" sz="1300" dirty="0">
                <a:solidFill>
                  <a:srgbClr val="FFFFFF"/>
                </a:solidFill>
                <a:latin typeface="Calibri"/>
              </a:rPr>
              <a:t>  Dasturiy injiniring</a:t>
            </a:r>
          </a:p>
          <a:p>
            <a:pPr algn="ctr">
              <a:spcBef>
                <a:spcPts val="80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 algn="ctr">
              <a:spcBef>
                <a:spcPts val="80"/>
              </a:spcBef>
            </a:pPr>
            <a:r>
              <a:rPr lang="uz-UZ" altLang="en-US" sz="1100" i="1" dirty="0">
                <a:solidFill>
                  <a:srgbClr val="B0C4DE"/>
                </a:solidFill>
                <a:latin typeface="Calibri"/>
              </a:rPr>
              <a:t>React  •  Node.js  •  Express.js  •  Google Gemini AI</a:t>
            </a:r>
          </a:p>
        </p:txBody>
      </p:sp>
    </p:spTree>
  </p:cSld>
  <p:clrMapOvr>
    <a:masterClr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1007999"/>
          </a:xfrm>
          <a:prstGeom prst="rect">
            <a:avLst/>
          </a:prstGeom>
          <a:solidFill>
            <a:srgbClr val="081424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972000"/>
            <a:ext cx="12193200" cy="432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44000" y="125999"/>
            <a:ext cx="100800" cy="7560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360000" y="108000"/>
            <a:ext cx="11340000" cy="792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/>
            <a:r>
              <a:rPr lang="uz-UZ" altLang="en-US" sz="2100" b="1" dirty="0">
                <a:solidFill>
                  <a:srgbClr val="FFFFFF"/>
                </a:solidFill>
                <a:latin typeface="Calibri"/>
              </a:rPr>
              <a:t>MUNDARIJA</a:t>
            </a:r>
          </a:p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80000" y="1116000"/>
            <a:ext cx="5760000" cy="5508000"/>
          </a:xfrm>
          <a:prstGeom prst="roundRect">
            <a:avLst>
              <a:gd name="adj" fmla="val 10000"/>
            </a:avLst>
          </a:prstGeom>
          <a:solidFill>
            <a:srgbClr val="0F2547">
              <a:alpha val="7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80000" y="1116000"/>
            <a:ext cx="5760000" cy="360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288000" y="1188000"/>
            <a:ext cx="5544000" cy="5292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>
              <a:spcBef>
                <a:spcPts val="80"/>
              </a:spcBef>
            </a:pPr>
            <a:r>
              <a:rPr lang="uz-UZ" altLang="en-US" sz="1200" b="1" dirty="0">
                <a:solidFill>
                  <a:srgbClr val="FFD700"/>
                </a:solidFill>
                <a:latin typeface="Calibri"/>
              </a:rPr>
              <a:t>  KIRISH  </a:t>
            </a:r>
            <a:r>
              <a:rPr lang="uz-UZ" altLang="en-US" sz="1200" b="1" dirty="0">
                <a:solidFill>
                  <a:srgbClr val="FFFFFF"/>
                </a:solidFill>
                <a:latin typeface="Calibri"/>
              </a:rPr>
              <a:t>Mavzuning dolzarbligi va tadqiqot maqsadi</a:t>
            </a:r>
          </a:p>
          <a:p>
            <a:pPr>
              <a:spcBef>
                <a:spcPts val="80"/>
              </a:spcBef>
            </a:pPr>
            <a:r>
              <a:rPr lang="uz-UZ" altLang="en-US" sz="1200" b="1" dirty="0">
                <a:solidFill>
                  <a:srgbClr val="FFD700"/>
                </a:solidFill>
                <a:latin typeface="Calibri"/>
              </a:rPr>
              <a:t>  I BOB  </a:t>
            </a:r>
            <a:r>
              <a:rPr lang="uz-UZ" altLang="en-US" sz="1200" b="1" dirty="0">
                <a:solidFill>
                  <a:srgbClr val="FFFFFF"/>
                </a:solidFill>
                <a:latin typeface="Calibri"/>
              </a:rPr>
              <a:t>Nazariy asoslar</a:t>
            </a:r>
          </a:p>
          <a:p>
            <a:pPr>
              <a:spcBef>
                <a:spcPts val="60"/>
              </a:spcBef>
            </a:pPr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    1.1  </a:t>
            </a:r>
            <a:r>
              <a:rPr lang="uz-UZ" altLang="en-US" sz="1100" dirty="0">
                <a:solidFill>
                  <a:srgbClr val="B0C4DE"/>
                </a:solidFill>
                <a:latin typeface="Calibri"/>
              </a:rPr>
              <a:t>VCS tizimlarining o'rni va ahamiyati</a:t>
            </a:r>
          </a:p>
          <a:p>
            <a:pPr>
              <a:spcBef>
                <a:spcPts val="60"/>
              </a:spcBef>
            </a:pPr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    1.2  </a:t>
            </a:r>
            <a:r>
              <a:rPr lang="uz-UZ" altLang="en-US" sz="1100" dirty="0">
                <a:solidFill>
                  <a:srgbClr val="B0C4DE"/>
                </a:solidFill>
                <a:latin typeface="Calibri"/>
              </a:rPr>
              <a:t>Diff tahlil metodologiyasi</a:t>
            </a:r>
          </a:p>
          <a:p>
            <a:pPr>
              <a:spcBef>
                <a:spcPts val="60"/>
              </a:spcBef>
            </a:pPr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    1.3  </a:t>
            </a:r>
            <a:r>
              <a:rPr lang="uz-UZ" altLang="en-US" sz="1100" dirty="0">
                <a:solidFill>
                  <a:srgbClr val="B0C4DE"/>
                </a:solidFill>
                <a:latin typeface="Calibri"/>
              </a:rPr>
              <a:t>LLM texnologiyalari integratsiyasi</a:t>
            </a:r>
          </a:p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6120000" y="1116000"/>
            <a:ext cx="5903999" cy="5508000"/>
          </a:xfrm>
          <a:prstGeom prst="roundRect">
            <a:avLst>
              <a:gd name="adj" fmla="val 10000"/>
            </a:avLst>
          </a:prstGeom>
          <a:solidFill>
            <a:srgbClr val="0F2547">
              <a:alpha val="7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6120000" y="1116000"/>
            <a:ext cx="5903999" cy="360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6228000" y="1188000"/>
            <a:ext cx="5688000" cy="5292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>
              <a:spcBef>
                <a:spcPts val="75"/>
              </a:spcBef>
            </a:pPr>
            <a:r>
              <a:rPr lang="uz-UZ" altLang="en-US" sz="1200" b="1" dirty="0">
                <a:solidFill>
                  <a:srgbClr val="FFD700"/>
                </a:solidFill>
                <a:latin typeface="Calibri"/>
              </a:rPr>
              <a:t>  II BOB  </a:t>
            </a:r>
            <a:r>
              <a:rPr lang="uz-UZ" altLang="en-US" sz="1200" b="1" dirty="0">
                <a:solidFill>
                  <a:srgbClr val="FFFFFF"/>
                </a:solidFill>
                <a:latin typeface="Calibri"/>
              </a:rPr>
              <a:t>Arxitektura va loyihalashtirish</a:t>
            </a:r>
          </a:p>
          <a:p>
            <a:pPr>
              <a:spcBef>
                <a:spcPts val="55"/>
              </a:spcBef>
            </a:pPr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    2.1  </a:t>
            </a:r>
            <a:r>
              <a:rPr lang="uz-UZ" altLang="en-US" sz="1100" dirty="0">
                <a:solidFill>
                  <a:srgbClr val="B0C4DE"/>
                </a:solidFill>
                <a:latin typeface="Calibri"/>
              </a:rPr>
              <a:t>Funksional talablar va 5 modul</a:t>
            </a:r>
          </a:p>
          <a:p>
            <a:pPr>
              <a:spcBef>
                <a:spcPts val="55"/>
              </a:spcBef>
            </a:pPr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    2.2  </a:t>
            </a:r>
            <a:r>
              <a:rPr lang="uz-UZ" altLang="en-US" sz="1100" dirty="0">
                <a:solidFill>
                  <a:srgbClr val="B0C4DE"/>
                </a:solidFill>
                <a:latin typeface="Calibri"/>
              </a:rPr>
              <a:t>Router-Controller arxitektura + Blok-sxema</a:t>
            </a:r>
          </a:p>
          <a:p>
            <a:pPr>
              <a:spcBef>
                <a:spcPts val="55"/>
              </a:spcBef>
            </a:pPr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    2.3  </a:t>
            </a:r>
            <a:r>
              <a:rPr lang="uz-UZ" altLang="en-US" sz="1100" dirty="0">
                <a:solidFill>
                  <a:srgbClr val="B0C4DE"/>
                </a:solidFill>
                <a:latin typeface="Calibri"/>
              </a:rPr>
              <a:t>Frontend-Backend integratsiyasi</a:t>
            </a:r>
          </a:p>
          <a:p>
            <a:pPr>
              <a:spcBef>
                <a:spcPts val="75"/>
              </a:spcBef>
            </a:pPr>
            <a:r>
              <a:rPr lang="uz-UZ" altLang="en-US" sz="1200" b="1" dirty="0">
                <a:solidFill>
                  <a:srgbClr val="FFD700"/>
                </a:solidFill>
                <a:latin typeface="Calibri"/>
              </a:rPr>
              <a:t>  III BOB  </a:t>
            </a:r>
            <a:r>
              <a:rPr lang="uz-UZ" altLang="en-US" sz="1200" b="1" dirty="0">
                <a:solidFill>
                  <a:srgbClr val="FFFFFF"/>
                </a:solidFill>
                <a:latin typeface="Calibri"/>
              </a:rPr>
              <a:t>Amaliy realizatsiya</a:t>
            </a:r>
          </a:p>
          <a:p>
            <a:pPr>
              <a:spcBef>
                <a:spcPts val="55"/>
              </a:spcBef>
            </a:pPr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    3.1  </a:t>
            </a:r>
            <a:r>
              <a:rPr lang="uz-UZ" altLang="en-US" sz="1100" dirty="0">
                <a:solidFill>
                  <a:srgbClr val="B0C4DE"/>
                </a:solidFill>
                <a:latin typeface="Calibri"/>
              </a:rPr>
              <a:t>Node.js/Express.js backend</a:t>
            </a:r>
          </a:p>
          <a:p>
            <a:pPr>
              <a:spcBef>
                <a:spcPts val="55"/>
              </a:spcBef>
            </a:pPr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    3.2  </a:t>
            </a:r>
            <a:r>
              <a:rPr lang="uz-UZ" altLang="en-US" sz="1100" dirty="0">
                <a:solidFill>
                  <a:srgbClr val="B0C4DE"/>
                </a:solidFill>
                <a:latin typeface="Calibri"/>
              </a:rPr>
              <a:t>React SPA frontend</a:t>
            </a:r>
          </a:p>
          <a:p>
            <a:pPr>
              <a:spcBef>
                <a:spcPts val="55"/>
              </a:spcBef>
            </a:pPr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    3.3  </a:t>
            </a:r>
            <a:r>
              <a:rPr lang="uz-UZ" altLang="en-US" sz="1100" dirty="0">
                <a:solidFill>
                  <a:srgbClr val="B0C4DE"/>
                </a:solidFill>
                <a:latin typeface="Calibri"/>
              </a:rPr>
              <a:t>Sinov natijalari va AI hisobotlar</a:t>
            </a:r>
          </a:p>
          <a:p>
            <a:pPr>
              <a:spcBef>
                <a:spcPts val="75"/>
              </a:spcBef>
            </a:pPr>
            <a:r>
              <a:rPr lang="uz-UZ" altLang="en-US" sz="1200" b="1" dirty="0">
                <a:solidFill>
                  <a:srgbClr val="FFD700"/>
                </a:solidFill>
                <a:latin typeface="Calibri"/>
              </a:rPr>
              <a:t>  XULOSA  </a:t>
            </a:r>
            <a:r>
              <a:rPr lang="uz-UZ" altLang="en-US" sz="1200" b="1" dirty="0">
                <a:solidFill>
                  <a:srgbClr val="FFFFFF"/>
                </a:solidFill>
                <a:latin typeface="Calibri"/>
              </a:rPr>
              <a:t>Natijalar va takliflar</a:t>
            </a:r>
          </a:p>
        </p:txBody>
      </p:sp>
    </p:spTree>
  </p:cSld>
  <p:clrMapOvr>
    <a:masterClr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F2547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1007999"/>
          </a:xfrm>
          <a:prstGeom prst="rect">
            <a:avLst/>
          </a:prstGeom>
          <a:solidFill>
            <a:srgbClr val="081424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972000"/>
            <a:ext cx="12193200" cy="432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44000" y="125999"/>
            <a:ext cx="100800" cy="7560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360000" y="108000"/>
            <a:ext cx="11340000" cy="792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/>
            <a:r>
              <a:rPr lang="uz-UZ" altLang="en-US" sz="2100" b="1" dirty="0">
                <a:solidFill>
                  <a:srgbClr val="FFFFFF"/>
                </a:solidFill>
                <a:latin typeface="Calibri"/>
              </a:rPr>
              <a:t>KIRISH</a:t>
            </a:r>
          </a:p>
        </p:txBody>
      </p:sp>
      <p:sp>
        <p:nvSpPr>
          <p:cNvPr id="1" name="tb"/>
          <p:cNvSpPr txBox="1"/>
          <p:nvPr/>
        </p:nvSpPr>
        <p:spPr>
          <a:xfrm>
            <a:off x="11520000" y="6408000"/>
            <a:ext cx="540000" cy="324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algn="r"/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3</a:t>
            </a:r>
          </a:p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80000" y="1116000"/>
            <a:ext cx="11833200" cy="5472000"/>
          </a:xfrm>
          <a:prstGeom prst="roundRect">
            <a:avLst>
              <a:gd name="adj" fmla="val 12000"/>
            </a:avLst>
          </a:prstGeom>
          <a:solidFill>
            <a:srgbClr val="081424">
              <a:alpha val="8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80000" y="1116000"/>
            <a:ext cx="11833200" cy="252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80000" y="6562800"/>
            <a:ext cx="11833200" cy="252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80000" y="1116000"/>
            <a:ext cx="25200" cy="54720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1987999" y="1116000"/>
            <a:ext cx="25200" cy="54720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432000" y="972000"/>
            <a:ext cx="4320000" cy="324000"/>
          </a:xfrm>
          <a:prstGeom prst="roundRect">
            <a:avLst>
              <a:gd name="adj" fmla="val 8000"/>
            </a:avLst>
          </a:prstGeom>
          <a:solidFill>
            <a:srgbClr val="7B2FBE"/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432000" y="954000"/>
            <a:ext cx="4320000" cy="324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/>
            <a:r>
              <a:rPr lang="uz-UZ" altLang="en-US" sz="1000" b="1" dirty="0">
                <a:solidFill>
                  <a:srgbClr val="FFFFFF"/>
                </a:solidFill>
                <a:latin typeface="Calibri"/>
              </a:rPr>
              <a:t>  📋  Mavzuning dolzarbligi</a:t>
            </a:r>
          </a:p>
        </p:txBody>
      </p:sp>
      <p:sp>
        <p:nvSpPr>
          <p:cNvPr id="1" name="tb"/>
          <p:cNvSpPr txBox="1"/>
          <p:nvPr/>
        </p:nvSpPr>
        <p:spPr>
          <a:xfrm>
            <a:off x="432000" y="1224000"/>
            <a:ext cx="11340000" cy="522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>
              <a:spcBef>
                <a:spcPts val="35"/>
              </a:spcBef>
            </a:pPr>
            <a:r>
              <a:rPr lang="uz-UZ" altLang="en-US" sz="1300" dirty="0">
                <a:solidFill>
                  <a:srgbClr val="FFFFFF"/>
                </a:solidFill>
                <a:latin typeface="Calibri"/>
              </a:rPr>
              <a:t>Axborot-kommunikatsiya texnologiyalarining shiddatli rivojlanishi davrida yuqori</a:t>
            </a:r>
          </a:p>
          <a:p>
            <a:pPr>
              <a:spcBef>
                <a:spcPts val="35"/>
              </a:spcBef>
            </a:pPr>
            <a:r>
              <a:rPr lang="uz-UZ" altLang="en-US" sz="1300" dirty="0">
                <a:solidFill>
                  <a:srgbClr val="FFFFFF"/>
                </a:solidFill>
                <a:latin typeface="Calibri"/>
              </a:rPr>
              <a:t>sifatli dasturiy ta'minot mahsulotlarini ishlab chiqish strategik yo'nalishga aylandi.</a:t>
            </a:r>
          </a:p>
          <a:p>
            <a:pPr>
              <a:spcBef>
                <a:spcPts val="25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35"/>
              </a:spcBef>
            </a:pPr>
            <a:r>
              <a:rPr lang="uz-UZ" altLang="en-US" sz="1300" dirty="0">
                <a:solidFill>
                  <a:srgbClr val="FFFFFF"/>
                </a:solidFill>
                <a:latin typeface="Calibri"/>
              </a:rPr>
              <a:t>Zamonaviy dasturiy mahsulotlar murakkab ko'p qatlamli arxitekturaga ega bo'lib,</a:t>
            </a:r>
          </a:p>
          <a:p>
            <a:pPr>
              <a:spcBef>
                <a:spcPts val="35"/>
              </a:spcBef>
            </a:pPr>
            <a:r>
              <a:rPr lang="uz-UZ" altLang="en-US" sz="1300" dirty="0">
                <a:solidFill>
                  <a:srgbClr val="FFFFFF"/>
                </a:solidFill>
                <a:latin typeface="Calibri"/>
              </a:rPr>
              <a:t>ularning hayotiy sikli davomida jamoalar tomonidan minglab o'zgarishlar kiritiladi.</a:t>
            </a:r>
          </a:p>
          <a:p>
            <a:pPr>
              <a:spcBef>
                <a:spcPts val="25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45"/>
              </a:spcBef>
            </a:pPr>
            <a:r>
              <a:rPr lang="uz-UZ" altLang="en-US" sz="1300" b="1" dirty="0">
                <a:solidFill>
                  <a:srgbClr val="00C6FF"/>
                </a:solidFill>
                <a:latin typeface="Calibri"/>
              </a:rPr>
              <a:t>Muammo: Mavjud Diff vositalari o'zgarishlarni FAQAT sintaktik darajada ko'rsatadi —</a:t>
            </a:r>
          </a:p>
          <a:p>
            <a:pPr>
              <a:spcBef>
                <a:spcPts val="35"/>
              </a:spcBef>
            </a:pPr>
            <a:r>
              <a:rPr lang="uz-UZ" altLang="en-US" sz="1300" dirty="0">
                <a:solidFill>
                  <a:srgbClr val="FFFFFF"/>
                </a:solidFill>
                <a:latin typeface="Calibri"/>
              </a:rPr>
              <a:t>mantiqiy ma'nosi, xavfsizlikka ta'siri tushuntirilmaydi.</a:t>
            </a:r>
          </a:p>
          <a:p>
            <a:pPr>
              <a:spcBef>
                <a:spcPts val="25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45"/>
              </a:spcBef>
            </a:pPr>
            <a:r>
              <a:rPr lang="uz-UZ" altLang="en-US" sz="1300" b="1" dirty="0">
                <a:solidFill>
                  <a:srgbClr val="00C6FF"/>
                </a:solidFill>
                <a:latin typeface="Calibri"/>
              </a:rPr>
              <a:t>Yechim: LLM texnologiyasini integratsiya qilish — Google Gemini 2.5 Flash modeli</a:t>
            </a:r>
          </a:p>
          <a:p>
            <a:pPr>
              <a:spcBef>
                <a:spcPts val="35"/>
              </a:spcBef>
            </a:pPr>
            <a:r>
              <a:rPr lang="uz-UZ" altLang="en-US" sz="1300" dirty="0">
                <a:solidFill>
                  <a:srgbClr val="FFFFFF"/>
                </a:solidFill>
                <a:latin typeface="Calibri"/>
              </a:rPr>
              <a:t>yordamida o'zbek tilida professional semantik hisobot generatsiya qilish.</a:t>
            </a:r>
          </a:p>
          <a:p>
            <a:pPr>
              <a:spcBef>
                <a:spcPts val="25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45"/>
              </a:spcBef>
            </a:pPr>
            <a:r>
              <a:rPr lang="uz-UZ" altLang="en-US" sz="1300" b="1" dirty="0">
                <a:solidFill>
                  <a:srgbClr val="00C6FF"/>
                </a:solidFill>
                <a:latin typeface="Calibri"/>
              </a:rPr>
              <a:t>Maqsad: Versiyalar o'zgarishlarini tahlil qiluvchi SPA veb-platforma yaratish.</a:t>
            </a:r>
          </a:p>
          <a:p>
            <a:pPr>
              <a:spcBef>
                <a:spcPts val="25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45"/>
              </a:spcBef>
            </a:pPr>
            <a:r>
              <a:rPr lang="uz-UZ" altLang="en-US" sz="1300" b="1" dirty="0">
                <a:solidFill>
                  <a:srgbClr val="00C6FF"/>
                </a:solidFill>
                <a:latin typeface="Calibri"/>
              </a:rPr>
              <a:t>Tadqiqot predmeti: Diff algoritmlari, JS asinxron metodlar, LLM semantik tahlil.</a:t>
            </a:r>
          </a:p>
          <a:p>
            <a:pPr>
              <a:spcBef>
                <a:spcPts val="25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45"/>
              </a:spcBef>
            </a:pPr>
            <a:r>
              <a:rPr lang="uz-UZ" altLang="en-US" sz="1300" b="1" dirty="0">
                <a:solidFill>
                  <a:srgbClr val="00C6FF"/>
                </a:solidFill>
                <a:latin typeface="Calibri"/>
              </a:rPr>
              <a:t>Metodlar: OOD, Router-Controller, Prompt Engineering, Git oqimlarini boshqarish.</a:t>
            </a:r>
          </a:p>
        </p:txBody>
      </p:sp>
    </p:spTree>
  </p:cSld>
  <p:clrMapOvr>
    <a:masterClr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F2547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1007999"/>
          </a:xfrm>
          <a:prstGeom prst="rect">
            <a:avLst/>
          </a:prstGeom>
          <a:solidFill>
            <a:srgbClr val="081424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972000"/>
            <a:ext cx="12193200" cy="432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44000" y="125999"/>
            <a:ext cx="100800" cy="7560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360000" y="108000"/>
            <a:ext cx="11340000" cy="792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/>
            <a:r>
              <a:rPr lang="uz-UZ" altLang="en-US" sz="2100" b="1" dirty="0">
                <a:solidFill>
                  <a:srgbClr val="FFFFFF"/>
                </a:solidFill>
                <a:latin typeface="Calibri"/>
              </a:rPr>
              <a:t>1.1 — VCS Tizimlarining O'rni va Ahamiyati</a:t>
            </a:r>
          </a:p>
        </p:txBody>
      </p:sp>
      <p:sp>
        <p:nvSpPr>
          <p:cNvPr id="1" name="tb"/>
          <p:cNvSpPr txBox="1"/>
          <p:nvPr/>
        </p:nvSpPr>
        <p:spPr>
          <a:xfrm>
            <a:off x="11520000" y="6408000"/>
            <a:ext cx="540000" cy="324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algn="r"/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4</a:t>
            </a:r>
          </a:p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80000" y="1116000"/>
            <a:ext cx="11833200" cy="5508000"/>
          </a:xfrm>
          <a:prstGeom prst="roundRect">
            <a:avLst>
              <a:gd name="adj" fmla="val 8000"/>
            </a:avLst>
          </a:prstGeom>
          <a:solidFill>
            <a:srgbClr val="081424">
              <a:alpha val="8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80000" y="1116000"/>
            <a:ext cx="11833200" cy="180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80000" y="6606000"/>
            <a:ext cx="11833200" cy="180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80000" y="1116000"/>
            <a:ext cx="18000" cy="55080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1995200" y="1116000"/>
            <a:ext cx="18000" cy="55080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360000" y="1188000"/>
            <a:ext cx="11448000" cy="5328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>
              <a:spcBef>
                <a:spcPts val="50"/>
              </a:spcBef>
            </a:pPr>
            <a:r>
              <a:rPr lang="uz-UZ" altLang="en-US" sz="1300" b="1" dirty="0">
                <a:solidFill>
                  <a:srgbClr val="FFD700"/>
                </a:solidFill>
                <a:latin typeface="Calibri"/>
              </a:rPr>
              <a:t>Versiyalarni Boshqarish Tizimi (VCS) nima?</a:t>
            </a:r>
          </a:p>
          <a:p>
            <a:pPr>
              <a:spcBef>
                <a:spcPts val="35"/>
              </a:spcBef>
            </a:pPr>
            <a:r>
              <a:rPr lang="uz-UZ" altLang="en-US" sz="1200" dirty="0">
                <a:solidFill>
                  <a:srgbClr val="FFFFFF"/>
                </a:solidFill>
                <a:latin typeface="Calibri"/>
              </a:rPr>
              <a:t>Fayllar yoki dasturiy kodlarga kiritilgan har qanday o'zgarishlarni vaqtlar kesimida qayd etuvchi,</a:t>
            </a:r>
          </a:p>
          <a:p>
            <a:pPr>
              <a:spcBef>
                <a:spcPts val="35"/>
              </a:spcBef>
            </a:pPr>
            <a:r>
              <a:rPr lang="uz-UZ" altLang="en-US" sz="1200" dirty="0">
                <a:solidFill>
                  <a:srgbClr val="FFFFFF"/>
                </a:solidFill>
                <a:latin typeface="Calibri"/>
              </a:rPr>
              <a:t>zarur bo'lganda loyihani o'tmishdagi istalgan holatiga qaytarish imkonini beruvchi dasturiy muhit.</a:t>
            </a:r>
          </a:p>
          <a:p>
            <a:pPr>
              <a:spcBef>
                <a:spcPts val="15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50"/>
              </a:spcBef>
            </a:pPr>
            <a:r>
              <a:rPr lang="uz-UZ" altLang="en-US" sz="1300" b="1" dirty="0">
                <a:solidFill>
                  <a:srgbClr val="FFD700"/>
                </a:solidFill>
                <a:latin typeface="Calibri"/>
              </a:rPr>
              <a:t>VCS Tarixiy Rivojlanish Bosqichlari:</a:t>
            </a:r>
          </a:p>
          <a:p>
            <a:pPr>
              <a:spcBef>
                <a:spcPts val="45"/>
              </a:spcBef>
            </a:pPr>
            <a:r>
              <a:rPr lang="uz-UZ" altLang="en-US" sz="1300" b="1" dirty="0">
                <a:solidFill>
                  <a:srgbClr val="00E676"/>
                </a:solidFill>
                <a:latin typeface="Calibri"/>
              </a:rPr>
              <a:t>🔸 LOKAL VCS</a:t>
            </a:r>
          </a:p>
          <a:p>
            <a:pPr>
              <a:spcBef>
                <a:spcPts val="35"/>
              </a:spcBef>
            </a:pPr>
            <a:r>
              <a:rPr lang="uz-UZ" altLang="en-US" sz="1200" dirty="0">
                <a:solidFill>
                  <a:srgbClr val="FFFFFF"/>
                </a:solidFill>
                <a:latin typeface="Calibri"/>
              </a:rPr>
              <a:t>  Barcha fayllar tarixi faqat shaxsiy kompyuterda. Jamoaviy ishlash MUMKIN EMAS.</a:t>
            </a:r>
          </a:p>
          <a:p>
            <a:pPr>
              <a:spcBef>
                <a:spcPts val="45"/>
              </a:spcBef>
            </a:pPr>
            <a:r>
              <a:rPr lang="uz-UZ" altLang="en-US" sz="1300" b="1" dirty="0">
                <a:solidFill>
                  <a:srgbClr val="00E676"/>
                </a:solidFill>
                <a:latin typeface="Calibri"/>
              </a:rPr>
              <a:t>🔸 MARKAZLASHTIRILGAN (CVCS) — SVN, CVS</a:t>
            </a:r>
          </a:p>
          <a:p>
            <a:pPr>
              <a:spcBef>
                <a:spcPts val="35"/>
              </a:spcBef>
            </a:pPr>
            <a:r>
              <a:rPr lang="uz-UZ" altLang="en-US" sz="1200" dirty="0">
                <a:solidFill>
                  <a:srgbClr val="FFFFFF"/>
                </a:solidFill>
                <a:latin typeface="Calibri"/>
              </a:rPr>
              <a:t>  Yagona server. Kamchilik: server o'chsa butun loyiha tarixi yo'qoladi.</a:t>
            </a:r>
          </a:p>
          <a:p>
            <a:pPr>
              <a:spcBef>
                <a:spcPts val="45"/>
              </a:spcBef>
            </a:pPr>
            <a:r>
              <a:rPr lang="uz-UZ" altLang="en-US" sz="1300" b="1" dirty="0">
                <a:solidFill>
                  <a:srgbClr val="00E676"/>
                </a:solidFill>
                <a:latin typeface="Calibri"/>
              </a:rPr>
              <a:t>✅ TAQSIMLANGAN (DVCS) — Git (2005-hozir, dunyo standarti)</a:t>
            </a:r>
          </a:p>
          <a:p>
            <a:pPr>
              <a:spcBef>
                <a:spcPts val="35"/>
              </a:spcBef>
            </a:pPr>
            <a:r>
              <a:rPr lang="uz-UZ" altLang="en-US" sz="1200" dirty="0">
                <a:solidFill>
                  <a:srgbClr val="FFFFFF"/>
                </a:solidFill>
                <a:latin typeface="Calibri"/>
              </a:rPr>
              <a:t>  Har dasturchi to'liq repozitoriyaga ega. Lokal operatsiyalar sekunddan kam.</a:t>
            </a:r>
          </a:p>
          <a:p>
            <a:pPr>
              <a:spcBef>
                <a:spcPts val="35"/>
              </a:spcBef>
            </a:pPr>
            <a:r>
              <a:rPr lang="uz-UZ" altLang="en-US" sz="1200" dirty="0">
                <a:solidFill>
                  <a:srgbClr val="FFFFFF"/>
                </a:solidFill>
                <a:latin typeface="Calibri"/>
              </a:rPr>
              <a:t>  Snapshot asosida saqlash. Branch = 41 baytlik ko'rsatgich.</a:t>
            </a:r>
          </a:p>
          <a:p>
            <a:pPr>
              <a:spcBef>
                <a:spcPts val="15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50"/>
              </a:spcBef>
            </a:pPr>
            <a:r>
              <a:rPr lang="uz-UZ" altLang="en-US" sz="1300" b="1" dirty="0">
                <a:solidFill>
                  <a:srgbClr val="FFD700"/>
                </a:solidFill>
                <a:latin typeface="Calibri"/>
              </a:rPr>
              <a:t>Code Review va muammo:</a:t>
            </a:r>
          </a:p>
          <a:p>
            <a:pPr>
              <a:spcBef>
                <a:spcPts val="35"/>
              </a:spcBef>
            </a:pPr>
            <a:r>
              <a:rPr lang="uz-UZ" altLang="en-US" sz="1200" dirty="0">
                <a:solidFill>
                  <a:srgbClr val="FFFFFF"/>
                </a:solidFill>
                <a:latin typeface="Calibri"/>
              </a:rPr>
              <a:t>Git'ning Pull Request mexanizmi orqali jamoa a'zolari kodni tekshiradi.</a:t>
            </a:r>
          </a:p>
          <a:p>
            <a:pPr>
              <a:spcBef>
                <a:spcPts val="35"/>
              </a:spcBef>
            </a:pPr>
            <a:r>
              <a:rPr lang="uz-UZ" altLang="en-US" sz="1200" dirty="0">
                <a:solidFill>
                  <a:srgbClr val="FFFFFF"/>
                </a:solidFill>
                <a:latin typeface="Calibri"/>
              </a:rPr>
              <a:t>Yirik loyihalarda qo'lda tekshirish inson resursini ko'p talab qiladi va xatolar o'tib ketadi.</a:t>
            </a:r>
          </a:p>
        </p:txBody>
      </p:sp>
    </p:spTree>
  </p:cSld>
  <p:clrMapOvr>
    <a:masterClr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F2547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1007999"/>
          </a:xfrm>
          <a:prstGeom prst="rect">
            <a:avLst/>
          </a:prstGeom>
          <a:solidFill>
            <a:srgbClr val="081424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972000"/>
            <a:ext cx="12193200" cy="432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44000" y="125999"/>
            <a:ext cx="100800" cy="7560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360000" y="108000"/>
            <a:ext cx="11340000" cy="792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/>
            <a:r>
              <a:rPr lang="uz-UZ" altLang="en-US" sz="2100" b="1" dirty="0">
                <a:solidFill>
                  <a:srgbClr val="FFFFFF"/>
                </a:solidFill>
                <a:latin typeface="Calibri"/>
              </a:rPr>
              <a:t>1.2 — Diff Tahlil Metodologiyasi va Vositalar Sharhi</a:t>
            </a:r>
          </a:p>
        </p:txBody>
      </p:sp>
      <p:sp>
        <p:nvSpPr>
          <p:cNvPr id="1" name="tb"/>
          <p:cNvSpPr txBox="1"/>
          <p:nvPr/>
        </p:nvSpPr>
        <p:spPr>
          <a:xfrm>
            <a:off x="11520000" y="6408000"/>
            <a:ext cx="540000" cy="324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algn="r"/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5</a:t>
            </a:r>
          </a:p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80000" y="1116000"/>
            <a:ext cx="11833200" cy="5508000"/>
          </a:xfrm>
          <a:prstGeom prst="roundRect">
            <a:avLst>
              <a:gd name="adj" fmla="val 8000"/>
            </a:avLst>
          </a:prstGeom>
          <a:solidFill>
            <a:srgbClr val="081424">
              <a:alpha val="8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80000" y="1116000"/>
            <a:ext cx="11833200" cy="180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80000" y="6606000"/>
            <a:ext cx="11833200" cy="180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80000" y="1116000"/>
            <a:ext cx="18000" cy="55080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1995200" y="1116000"/>
            <a:ext cx="18000" cy="55080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360000" y="1188000"/>
            <a:ext cx="11448000" cy="5328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>
              <a:spcBef>
                <a:spcPts val="45"/>
              </a:spcBef>
            </a:pPr>
            <a:r>
              <a:rPr lang="uz-UZ" altLang="en-US" sz="1300" b="1" dirty="0">
                <a:solidFill>
                  <a:srgbClr val="FFD700"/>
                </a:solidFill>
                <a:latin typeface="Calibri"/>
              </a:rPr>
              <a:t>Differensial Tahlil (Diff) nima?</a:t>
            </a:r>
          </a:p>
          <a:p>
            <a:pPr>
              <a:spcBef>
                <a:spcPts val="30"/>
              </a:spcBef>
            </a:pPr>
            <a:r>
              <a:rPr lang="uz-UZ" altLang="en-US" sz="1200" dirty="0">
                <a:solidFill>
                  <a:srgbClr val="FFFFFF"/>
                </a:solidFill>
                <a:latin typeface="Calibri"/>
              </a:rPr>
              <a:t>Ikki xil dasturiy kod versiyalari orasidagi farqlarni aniqlash jarayoni.</a:t>
            </a:r>
          </a:p>
          <a:p>
            <a:pPr>
              <a:spcBef>
                <a:spcPts val="30"/>
              </a:spcBef>
            </a:pPr>
            <a:r>
              <a:rPr lang="uz-UZ" altLang="en-US" sz="1200" dirty="0">
                <a:solidFill>
                  <a:srgbClr val="FFFFFF"/>
                </a:solidFill>
                <a:latin typeface="Calibri"/>
              </a:rPr>
              <a:t>Asosi: LCS (Longest Common Subsequence) — Eng uzun umumiy ketma-ketlik algoritmi.</a:t>
            </a:r>
          </a:p>
          <a:p>
            <a:pPr>
              <a:spcBef>
                <a:spcPts val="12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45"/>
              </a:spcBef>
            </a:pPr>
            <a:r>
              <a:rPr lang="uz-UZ" altLang="en-US" sz="1300" b="1" dirty="0">
                <a:solidFill>
                  <a:srgbClr val="FFD700"/>
                </a:solidFill>
                <a:latin typeface="Calibri"/>
              </a:rPr>
              <a:t>Asosiy Algoritmlar:</a:t>
            </a:r>
          </a:p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C6FF"/>
                </a:solidFill>
                <a:latin typeface="Calibri"/>
              </a:rPr>
              <a:t>📊 MAYERS ALGORITMI (Eugene Myers, 1986) — Git standart</a:t>
            </a:r>
          </a:p>
          <a:p>
            <a:pPr>
              <a:spcBef>
                <a:spcPts val="30"/>
              </a:spcBef>
            </a:pPr>
            <a:r>
              <a:rPr lang="uz-UZ" altLang="en-US" sz="1200" dirty="0">
                <a:solidFill>
                  <a:srgbClr val="FFFFFF"/>
                </a:solidFill>
                <a:latin typeface="Calibri"/>
              </a:rPr>
              <a:t>  Eng qisqa tahrirlash skriptini topadi. Unified Diff format hosil qiladi.</a:t>
            </a:r>
          </a:p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C6FF"/>
                </a:solidFill>
                <a:latin typeface="Calibri"/>
              </a:rPr>
              <a:t>📊 PATIENCE DIFF — noyob qatorlarga tayanadi</a:t>
            </a:r>
          </a:p>
          <a:p>
            <a:pPr>
              <a:spcBef>
                <a:spcPts val="30"/>
              </a:spcBef>
            </a:pPr>
            <a:r>
              <a:rPr lang="uz-UZ" altLang="en-US" sz="1200" dirty="0">
                <a:solidFill>
                  <a:srgbClr val="FFFFFF"/>
                </a:solidFill>
                <a:latin typeface="Calibri"/>
              </a:rPr>
              <a:t>  Rename va refaktoring operatsiyalarida aniqroq natija beradi.</a:t>
            </a:r>
          </a:p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C6FF"/>
                </a:solidFill>
                <a:latin typeface="Calibri"/>
              </a:rPr>
              <a:t>📊 HISTOGRAM DIFF — chastota asosida</a:t>
            </a:r>
          </a:p>
          <a:p>
            <a:pPr>
              <a:spcBef>
                <a:spcPts val="30"/>
              </a:spcBef>
            </a:pPr>
            <a:r>
              <a:rPr lang="uz-UZ" altLang="en-US" sz="1200" dirty="0">
                <a:solidFill>
                  <a:srgbClr val="FFFFFF"/>
                </a:solidFill>
                <a:latin typeface="Calibri"/>
              </a:rPr>
              <a:t>  Katta loyihalarda eng yuqori tezlik va aniqlik.</a:t>
            </a:r>
          </a:p>
          <a:p>
            <a:pPr>
              <a:spcBef>
                <a:spcPts val="12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45"/>
              </a:spcBef>
            </a:pPr>
            <a:r>
              <a:rPr lang="uz-UZ" altLang="en-US" sz="1300" b="1" dirty="0">
                <a:solidFill>
                  <a:srgbClr val="FFD700"/>
                </a:solidFill>
                <a:latin typeface="Calibri"/>
              </a:rPr>
              <a:t>jsdiff kutubxonasi (loyihamizda):</a:t>
            </a:r>
          </a:p>
          <a:p>
            <a:pPr>
              <a:spcBef>
                <a:spcPts val="30"/>
              </a:spcBef>
            </a:pPr>
            <a:r>
              <a:rPr lang="uz-UZ" altLang="en-US" sz="1200" dirty="0">
                <a:solidFill>
                  <a:srgbClr val="FFFFFF"/>
                </a:solidFill>
                <a:latin typeface="Calibri"/>
              </a:rPr>
              <a:t>Mayers algoritmining JavaScript realizatsiyasi. parsePatch() funksiyasi orqali</a:t>
            </a:r>
          </a:p>
          <a:p>
            <a:pPr>
              <a:spcBef>
                <a:spcPts val="30"/>
              </a:spcBef>
            </a:pPr>
            <a:r>
              <a:rPr lang="uz-UZ" altLang="en-US" sz="1200" dirty="0">
                <a:solidFill>
                  <a:srgbClr val="FFFFFF"/>
                </a:solidFill>
                <a:latin typeface="Calibri"/>
              </a:rPr>
              <a:t>Git diff matnini JSON massiviga o'tkazadi. Frontend vizualizatsiya uchun tayyorlaydi.</a:t>
            </a:r>
          </a:p>
          <a:p>
            <a:pPr>
              <a:spcBef>
                <a:spcPts val="12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45"/>
              </a:spcBef>
            </a:pPr>
            <a:r>
              <a:rPr lang="uz-UZ" altLang="en-US" sz="1300" b="1" dirty="0">
                <a:solidFill>
                  <a:srgbClr val="FFD700"/>
                </a:solidFill>
                <a:latin typeface="Calibri"/>
              </a:rPr>
              <a:t>⚠ Asosiy cheklov:</a:t>
            </a:r>
          </a:p>
          <a:p>
            <a:pPr>
              <a:spcBef>
                <a:spcPts val="30"/>
              </a:spcBef>
            </a:pPr>
            <a:r>
              <a:rPr lang="uz-UZ" altLang="en-US" sz="1200" dirty="0">
                <a:solidFill>
                  <a:srgbClr val="FFFFFF"/>
                </a:solidFill>
                <a:latin typeface="Calibri"/>
              </a:rPr>
              <a:t>Barcha algoritmlar FAQAT sintaktik — mantiqiy ma'no, xavfsizlik ta'siri aniqlanmaydi!</a:t>
            </a:r>
          </a:p>
        </p:txBody>
      </p:sp>
    </p:spTree>
  </p:cSld>
  <p:clrMapOvr>
    <a:masterClr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F2547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1007999"/>
          </a:xfrm>
          <a:prstGeom prst="rect">
            <a:avLst/>
          </a:prstGeom>
          <a:solidFill>
            <a:srgbClr val="081424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972000"/>
            <a:ext cx="12193200" cy="432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44000" y="125999"/>
            <a:ext cx="100800" cy="7560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360000" y="108000"/>
            <a:ext cx="11340000" cy="792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/>
            <a:r>
              <a:rPr lang="uz-UZ" altLang="en-US" sz="2100" b="1" dirty="0">
                <a:solidFill>
                  <a:srgbClr val="FFFFFF"/>
                </a:solidFill>
                <a:latin typeface="Calibri"/>
              </a:rPr>
              <a:t>1.3 — LLM Texnologiyalarini Dasturiy Kod Tahliliga Integratsiya</a:t>
            </a:r>
          </a:p>
        </p:txBody>
      </p:sp>
      <p:sp>
        <p:nvSpPr>
          <p:cNvPr id="1" name="tb"/>
          <p:cNvSpPr txBox="1"/>
          <p:nvPr/>
        </p:nvSpPr>
        <p:spPr>
          <a:xfrm>
            <a:off x="11520000" y="6408000"/>
            <a:ext cx="540000" cy="324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algn="r"/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6</a:t>
            </a:r>
          </a:p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44000" y="1116000"/>
            <a:ext cx="6660000" cy="5508000"/>
          </a:xfrm>
          <a:prstGeom prst="roundRect">
            <a:avLst>
              <a:gd name="adj" fmla="val 8000"/>
            </a:avLst>
          </a:prstGeom>
          <a:solidFill>
            <a:srgbClr val="081424">
              <a:alpha val="8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44000" y="1116000"/>
            <a:ext cx="6660000" cy="180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44000" y="6606000"/>
            <a:ext cx="6660000" cy="180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44000" y="1116000"/>
            <a:ext cx="18000" cy="55080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6785999" y="1116000"/>
            <a:ext cx="18000" cy="55080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251999" y="1188000"/>
            <a:ext cx="6408000" cy="5328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>
              <a:spcBef>
                <a:spcPts val="40"/>
              </a:spcBef>
            </a:pPr>
            <a:r>
              <a:rPr lang="uz-UZ" altLang="en-US" sz="1200" b="1" dirty="0">
                <a:solidFill>
                  <a:srgbClr val="FFD700"/>
                </a:solidFill>
                <a:latin typeface="Calibri"/>
              </a:rPr>
              <a:t>LLM nima?</a:t>
            </a:r>
          </a:p>
          <a:p>
            <a:pPr>
              <a:spcBef>
                <a:spcPts val="28"/>
              </a:spcBef>
            </a:pPr>
            <a:r>
              <a:rPr lang="uz-UZ" altLang="en-US" sz="1100" dirty="0">
                <a:solidFill>
                  <a:srgbClr val="FFFFFF"/>
                </a:solidFill>
                <a:latin typeface="Calibri"/>
              </a:rPr>
              <a:t>Transformer arxitekturasiga asoslangan</a:t>
            </a:r>
          </a:p>
          <a:p>
            <a:pPr>
              <a:spcBef>
                <a:spcPts val="28"/>
              </a:spcBef>
            </a:pPr>
            <a:r>
              <a:rPr lang="uz-UZ" altLang="en-US" sz="1100" dirty="0">
                <a:solidFill>
                  <a:srgbClr val="FFFFFF"/>
                </a:solidFill>
                <a:latin typeface="Calibri"/>
              </a:rPr>
              <a:t>katta til modellari. Kod mantiqini</a:t>
            </a:r>
          </a:p>
          <a:p>
            <a:pPr>
              <a:spcBef>
                <a:spcPts val="28"/>
              </a:spcBef>
            </a:pPr>
            <a:r>
              <a:rPr lang="uz-UZ" altLang="en-US" sz="1100" dirty="0">
                <a:solidFill>
                  <a:srgbClr val="FFFFFF"/>
                </a:solidFill>
                <a:latin typeface="Calibri"/>
              </a:rPr>
              <a:t>tushunib, tabiiy tilda izohlaydi.</a:t>
            </a:r>
          </a:p>
          <a:p>
            <a:pPr>
              <a:spcBef>
                <a:spcPts val="12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40"/>
              </a:spcBef>
            </a:pPr>
            <a:r>
              <a:rPr lang="uz-UZ" altLang="en-US" sz="1200" b="1" dirty="0">
                <a:solidFill>
                  <a:srgbClr val="FFD700"/>
                </a:solidFill>
                <a:latin typeface="Calibri"/>
              </a:rPr>
              <a:t>Google Gemini 2.5 Flash:</a:t>
            </a:r>
          </a:p>
          <a:p>
            <a:pPr>
              <a:spcBef>
                <a:spcPts val="35"/>
              </a:spcBef>
            </a:pPr>
            <a:r>
              <a:rPr lang="uz-UZ" altLang="en-US" sz="1200" b="1" dirty="0">
                <a:solidFill>
                  <a:srgbClr val="00E676"/>
                </a:solidFill>
                <a:latin typeface="Calibri"/>
              </a:rPr>
              <a:t>✅ 1 MILLON token kontekst</a:t>
            </a:r>
          </a:p>
          <a:p>
            <a:pPr>
              <a:spcBef>
                <a:spcPts val="28"/>
              </a:spcBef>
            </a:pPr>
            <a:r>
              <a:rPr lang="uz-UZ" altLang="en-US" sz="1100" dirty="0">
                <a:solidFill>
                  <a:srgbClr val="FFFFFF"/>
                </a:solidFill>
                <a:latin typeface="Calibri"/>
              </a:rPr>
              <a:t>  Butun diff bitta so'rovda</a:t>
            </a:r>
          </a:p>
          <a:p>
            <a:pPr>
              <a:spcBef>
                <a:spcPts val="35"/>
              </a:spcBef>
            </a:pPr>
            <a:r>
              <a:rPr lang="uz-UZ" altLang="en-US" sz="1200" b="1" dirty="0">
                <a:solidFill>
                  <a:srgbClr val="00E676"/>
                </a:solidFill>
                <a:latin typeface="Calibri"/>
              </a:rPr>
              <a:t>✅ O'zbek tilini tushunadi</a:t>
            </a:r>
          </a:p>
          <a:p>
            <a:pPr>
              <a:spcBef>
                <a:spcPts val="28"/>
              </a:spcBef>
            </a:pPr>
            <a:r>
              <a:rPr lang="uz-UZ" altLang="en-US" sz="1100" dirty="0">
                <a:solidFill>
                  <a:srgbClr val="FFFFFF"/>
                </a:solidFill>
                <a:latin typeface="Calibri"/>
              </a:rPr>
              <a:t>  Milliy terminologiya</a:t>
            </a:r>
          </a:p>
          <a:p>
            <a:pPr>
              <a:spcBef>
                <a:spcPts val="35"/>
              </a:spcBef>
            </a:pPr>
            <a:r>
              <a:rPr lang="uz-UZ" altLang="en-US" sz="1200" b="1" dirty="0">
                <a:solidFill>
                  <a:srgbClr val="00E676"/>
                </a:solidFill>
                <a:latin typeface="Calibri"/>
              </a:rPr>
              <a:t>✅ Streaming JSON javob</a:t>
            </a:r>
          </a:p>
          <a:p>
            <a:pPr>
              <a:spcBef>
                <a:spcPts val="28"/>
              </a:spcBef>
            </a:pPr>
            <a:r>
              <a:rPr lang="uz-UZ" altLang="en-US" sz="1100" dirty="0">
                <a:solidFill>
                  <a:srgbClr val="FFFFFF"/>
                </a:solidFill>
                <a:latin typeface="Calibri"/>
              </a:rPr>
              <a:t>  Past kechikish, yuqori tezlik</a:t>
            </a:r>
          </a:p>
          <a:p>
            <a:pPr>
              <a:spcBef>
                <a:spcPts val="12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40"/>
              </a:spcBef>
            </a:pPr>
            <a:r>
              <a:rPr lang="uz-UZ" altLang="en-US" sz="1200" b="1" dirty="0">
                <a:solidFill>
                  <a:srgbClr val="FFD700"/>
                </a:solidFill>
                <a:latin typeface="Calibri"/>
              </a:rPr>
              <a:t>3 qatlamli Prompt Engineering:</a:t>
            </a:r>
          </a:p>
          <a:p>
            <a:pPr>
              <a:spcBef>
                <a:spcPts val="28"/>
              </a:spcBef>
            </a:pPr>
            <a:r>
              <a:rPr lang="uz-UZ" altLang="en-US" sz="1100" dirty="0">
                <a:solidFill>
                  <a:srgbClr val="FFFFFF"/>
                </a:solidFill>
                <a:latin typeface="Calibri"/>
              </a:rPr>
              <a:t>1) System Prompt — mutaxassis roli</a:t>
            </a:r>
          </a:p>
          <a:p>
            <a:pPr>
              <a:spcBef>
                <a:spcPts val="28"/>
              </a:spcBef>
            </a:pPr>
            <a:r>
              <a:rPr lang="uz-UZ" altLang="en-US" sz="1100" dirty="0">
                <a:solidFill>
                  <a:srgbClr val="FFFFFF"/>
                </a:solidFill>
                <a:latin typeface="Calibri"/>
              </a:rPr>
              <a:t>2) Context — diff + meta-ma'lumot</a:t>
            </a:r>
          </a:p>
          <a:p>
            <a:pPr>
              <a:spcBef>
                <a:spcPts val="28"/>
              </a:spcBef>
            </a:pPr>
            <a:r>
              <a:rPr lang="uz-UZ" altLang="en-US" sz="1100" dirty="0">
                <a:solidFill>
                  <a:srgbClr val="FFFFFF"/>
                </a:solidFill>
                <a:latin typeface="Calibri"/>
              </a:rPr>
              <a:t>3) Output — Markdown format</a:t>
            </a:r>
          </a:p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6948000" y="1116000"/>
            <a:ext cx="5076000" cy="5508000"/>
          </a:xfrm>
          <a:prstGeom prst="roundRect">
            <a:avLst>
              <a:gd name="adj" fmla="val 8000"/>
            </a:avLst>
          </a:prstGeom>
          <a:solidFill>
            <a:srgbClr val="081424">
              <a:alpha val="8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6948000" y="1116000"/>
            <a:ext cx="5076000" cy="180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6948000" y="6606000"/>
            <a:ext cx="5076000" cy="180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6948000" y="1116000"/>
            <a:ext cx="18000" cy="55080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2006000" y="1116000"/>
            <a:ext cx="18000" cy="55080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6948000" y="1116000"/>
            <a:ext cx="5076000" cy="324000"/>
          </a:xfrm>
          <a:prstGeom prst="rect">
            <a:avLst/>
          </a:prstGeom>
          <a:solidFill>
            <a:srgbClr val="00C6FF">
              <a:alpha val="4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6948000" y="1116000"/>
            <a:ext cx="5076000" cy="324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algn="ctr"/>
            <a:r>
              <a:rPr lang="uz-UZ" altLang="en-US" sz="1100" b="1" dirty="0">
                <a:solidFill>
                  <a:srgbClr val="FFFFFF"/>
                </a:solidFill>
                <a:latin typeface="Calibri"/>
              </a:rPr>
              <a:t>  Taqqoslash Jadvali</a:t>
            </a:r>
          </a:p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6983999" y="1475999"/>
            <a:ext cx="5040000" cy="331200"/>
          </a:xfrm>
          <a:prstGeom prst="rect">
            <a:avLst/>
          </a:prstGeom>
          <a:solidFill>
            <a:srgbClr val="7B2FBE">
              <a:alpha val="6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7020000" y="1497599"/>
            <a:ext cx="1620000" cy="2952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algn="ctr"/>
            <a:r>
              <a:rPr lang="uz-UZ" altLang="en-US" sz="1000" b="1" dirty="0">
                <a:solidFill>
                  <a:srgbClr val="FFD700"/>
                </a:solidFill>
                <a:latin typeface="Calibri"/>
              </a:rPr>
              <a:t>Xususiyat</a:t>
            </a:r>
          </a:p>
        </p:txBody>
      </p:sp>
      <p:sp>
        <p:nvSpPr>
          <p:cNvPr id="1" name="tb"/>
          <p:cNvSpPr txBox="1"/>
          <p:nvPr/>
        </p:nvSpPr>
        <p:spPr>
          <a:xfrm>
            <a:off x="8676000" y="1497599"/>
            <a:ext cx="1620000" cy="2952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algn="ctr"/>
            <a:r>
              <a:rPr lang="uz-UZ" altLang="en-US" sz="1000" b="1" dirty="0">
                <a:solidFill>
                  <a:srgbClr val="FFD700"/>
                </a:solidFill>
                <a:latin typeface="Calibri"/>
              </a:rPr>
              <a:t>An'anaviy Diff</a:t>
            </a:r>
          </a:p>
        </p:txBody>
      </p:sp>
      <p:sp>
        <p:nvSpPr>
          <p:cNvPr id="1" name="tb"/>
          <p:cNvSpPr txBox="1"/>
          <p:nvPr/>
        </p:nvSpPr>
        <p:spPr>
          <a:xfrm>
            <a:off x="10332000" y="1497599"/>
            <a:ext cx="1620000" cy="2952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algn="ctr"/>
            <a:r>
              <a:rPr lang="uz-UZ" altLang="en-US" sz="1000" b="1" dirty="0">
                <a:solidFill>
                  <a:srgbClr val="FFD700"/>
                </a:solidFill>
                <a:latin typeface="Calibri"/>
              </a:rPr>
              <a:t>LLM (Gemini)</a:t>
            </a:r>
          </a:p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8640000" y="1475999"/>
            <a:ext cx="14400" cy="331200"/>
          </a:xfrm>
          <a:prstGeom prst="rect">
            <a:avLst/>
          </a:prstGeom>
          <a:solidFill>
            <a:srgbClr val="00C6FF">
              <a:alpha val="5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0296000" y="1475999"/>
            <a:ext cx="14400" cy="331200"/>
          </a:xfrm>
          <a:prstGeom prst="rect">
            <a:avLst/>
          </a:prstGeom>
          <a:solidFill>
            <a:srgbClr val="00C6FF">
              <a:alpha val="5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6983999" y="1814399"/>
            <a:ext cx="5040000" cy="331200"/>
          </a:xfrm>
          <a:prstGeom prst="rect">
            <a:avLst/>
          </a:prstGeom>
          <a:solidFill>
            <a:srgbClr val="0d2040">
              <a:alpha val="6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7020000" y="1835999"/>
            <a:ext cx="1620000" cy="2952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algn="ctr"/>
            <a:r>
              <a:rPr lang="uz-UZ" altLang="en-US" sz="1000" dirty="0">
                <a:solidFill>
                  <a:srgbClr val="B0C4DE"/>
                </a:solidFill>
                <a:latin typeface="Calibri"/>
              </a:rPr>
              <a:t>Tahlil turi</a:t>
            </a:r>
          </a:p>
        </p:txBody>
      </p:sp>
      <p:sp>
        <p:nvSpPr>
          <p:cNvPr id="1" name="tb"/>
          <p:cNvSpPr txBox="1"/>
          <p:nvPr/>
        </p:nvSpPr>
        <p:spPr>
          <a:xfrm>
            <a:off x="8676000" y="1835999"/>
            <a:ext cx="1620000" cy="2952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algn="ctr"/>
            <a:r>
              <a:rPr lang="uz-UZ" altLang="en-US" sz="1000" dirty="0">
                <a:solidFill>
                  <a:srgbClr val="FFFFFF"/>
                </a:solidFill>
                <a:latin typeface="Calibri"/>
              </a:rPr>
              <a:t>Sintaktik</a:t>
            </a:r>
          </a:p>
        </p:txBody>
      </p:sp>
      <p:sp>
        <p:nvSpPr>
          <p:cNvPr id="1" name="tb"/>
          <p:cNvSpPr txBox="1"/>
          <p:nvPr/>
        </p:nvSpPr>
        <p:spPr>
          <a:xfrm>
            <a:off x="10332000" y="1835999"/>
            <a:ext cx="1620000" cy="2952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algn="ctr"/>
            <a:r>
              <a:rPr lang="uz-UZ" altLang="en-US" sz="1000" dirty="0">
                <a:solidFill>
                  <a:srgbClr val="FFFFFF"/>
                </a:solidFill>
                <a:latin typeface="Calibri"/>
              </a:rPr>
              <a:t>Semantik</a:t>
            </a:r>
          </a:p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8640000" y="1814399"/>
            <a:ext cx="14400" cy="331200"/>
          </a:xfrm>
          <a:prstGeom prst="rect">
            <a:avLst/>
          </a:prstGeom>
          <a:solidFill>
            <a:srgbClr val="00C6FF">
              <a:alpha val="5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0296000" y="1814399"/>
            <a:ext cx="14400" cy="331200"/>
          </a:xfrm>
          <a:prstGeom prst="rect">
            <a:avLst/>
          </a:prstGeom>
          <a:solidFill>
            <a:srgbClr val="00C6FF">
              <a:alpha val="5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6983999" y="2152799"/>
            <a:ext cx="5040000" cy="331200"/>
          </a:xfrm>
          <a:prstGeom prst="rect">
            <a:avLst/>
          </a:prstGeom>
          <a:solidFill>
            <a:srgbClr val="0a1a2e">
              <a:alpha val="6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7020000" y="2174399"/>
            <a:ext cx="1620000" cy="2952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algn="ctr"/>
            <a:r>
              <a:rPr lang="uz-UZ" altLang="en-US" sz="1000" dirty="0">
                <a:solidFill>
                  <a:srgbClr val="B0C4DE"/>
                </a:solidFill>
                <a:latin typeface="Calibri"/>
              </a:rPr>
              <a:t>Mantiq</a:t>
            </a:r>
          </a:p>
        </p:txBody>
      </p:sp>
      <p:sp>
        <p:nvSpPr>
          <p:cNvPr id="1" name="tb"/>
          <p:cNvSpPr txBox="1"/>
          <p:nvPr/>
        </p:nvSpPr>
        <p:spPr>
          <a:xfrm>
            <a:off x="8676000" y="2174399"/>
            <a:ext cx="1620000" cy="2952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algn="ctr"/>
            <a:r>
              <a:rPr lang="uz-UZ" altLang="en-US" sz="1000" dirty="0">
                <a:solidFill>
                  <a:srgbClr val="FF5252"/>
                </a:solidFill>
                <a:latin typeface="Calibri"/>
              </a:rPr>
              <a:t>❌ Yo'q</a:t>
            </a:r>
          </a:p>
        </p:txBody>
      </p:sp>
      <p:sp>
        <p:nvSpPr>
          <p:cNvPr id="1" name="tb"/>
          <p:cNvSpPr txBox="1"/>
          <p:nvPr/>
        </p:nvSpPr>
        <p:spPr>
          <a:xfrm>
            <a:off x="10332000" y="2174399"/>
            <a:ext cx="1620000" cy="2952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algn="ctr"/>
            <a:r>
              <a:rPr lang="uz-UZ" altLang="en-US" sz="1000" dirty="0">
                <a:solidFill>
                  <a:srgbClr val="00E676"/>
                </a:solidFill>
                <a:latin typeface="Calibri"/>
              </a:rPr>
              <a:t>✅ Bor</a:t>
            </a:r>
          </a:p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8640000" y="2152799"/>
            <a:ext cx="14400" cy="331200"/>
          </a:xfrm>
          <a:prstGeom prst="rect">
            <a:avLst/>
          </a:prstGeom>
          <a:solidFill>
            <a:srgbClr val="00C6FF">
              <a:alpha val="5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0296000" y="2152799"/>
            <a:ext cx="14400" cy="331200"/>
          </a:xfrm>
          <a:prstGeom prst="rect">
            <a:avLst/>
          </a:prstGeom>
          <a:solidFill>
            <a:srgbClr val="00C6FF">
              <a:alpha val="5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6983999" y="2491199"/>
            <a:ext cx="5040000" cy="331200"/>
          </a:xfrm>
          <a:prstGeom prst="rect">
            <a:avLst/>
          </a:prstGeom>
          <a:solidFill>
            <a:srgbClr val="0d2040">
              <a:alpha val="6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7020000" y="2512799"/>
            <a:ext cx="1620000" cy="2952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algn="ctr"/>
            <a:r>
              <a:rPr lang="uz-UZ" altLang="en-US" sz="1000" dirty="0">
                <a:solidFill>
                  <a:srgbClr val="B0C4DE"/>
                </a:solidFill>
                <a:latin typeface="Calibri"/>
              </a:rPr>
              <a:t>Xavfsizlik</a:t>
            </a:r>
          </a:p>
        </p:txBody>
      </p:sp>
      <p:sp>
        <p:nvSpPr>
          <p:cNvPr id="1" name="tb"/>
          <p:cNvSpPr txBox="1"/>
          <p:nvPr/>
        </p:nvSpPr>
        <p:spPr>
          <a:xfrm>
            <a:off x="8676000" y="2512799"/>
            <a:ext cx="1620000" cy="2952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algn="ctr"/>
            <a:r>
              <a:rPr lang="uz-UZ" altLang="en-US" sz="1000" dirty="0">
                <a:solidFill>
                  <a:srgbClr val="FF5252"/>
                </a:solidFill>
                <a:latin typeface="Calibri"/>
              </a:rPr>
              <a:t>❌ Yo'q</a:t>
            </a:r>
          </a:p>
        </p:txBody>
      </p:sp>
      <p:sp>
        <p:nvSpPr>
          <p:cNvPr id="1" name="tb"/>
          <p:cNvSpPr txBox="1"/>
          <p:nvPr/>
        </p:nvSpPr>
        <p:spPr>
          <a:xfrm>
            <a:off x="10332000" y="2512799"/>
            <a:ext cx="1620000" cy="2952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algn="ctr"/>
            <a:r>
              <a:rPr lang="uz-UZ" altLang="en-US" sz="1000" dirty="0">
                <a:solidFill>
                  <a:srgbClr val="00E676"/>
                </a:solidFill>
                <a:latin typeface="Calibri"/>
              </a:rPr>
              <a:t>✅ Aniqlaydi</a:t>
            </a:r>
          </a:p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8640000" y="2491199"/>
            <a:ext cx="14400" cy="331200"/>
          </a:xfrm>
          <a:prstGeom prst="rect">
            <a:avLst/>
          </a:prstGeom>
          <a:solidFill>
            <a:srgbClr val="00C6FF">
              <a:alpha val="5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0296000" y="2491199"/>
            <a:ext cx="14400" cy="331200"/>
          </a:xfrm>
          <a:prstGeom prst="rect">
            <a:avLst/>
          </a:prstGeom>
          <a:solidFill>
            <a:srgbClr val="00C6FF">
              <a:alpha val="5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6983999" y="2829599"/>
            <a:ext cx="5040000" cy="331200"/>
          </a:xfrm>
          <a:prstGeom prst="rect">
            <a:avLst/>
          </a:prstGeom>
          <a:solidFill>
            <a:srgbClr val="0a1a2e">
              <a:alpha val="6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7020000" y="2851199"/>
            <a:ext cx="1620000" cy="2952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algn="ctr"/>
            <a:r>
              <a:rPr lang="uz-UZ" altLang="en-US" sz="1000" dirty="0">
                <a:solidFill>
                  <a:srgbClr val="B0C4DE"/>
                </a:solidFill>
                <a:latin typeface="Calibri"/>
              </a:rPr>
              <a:t>Til</a:t>
            </a:r>
          </a:p>
        </p:txBody>
      </p:sp>
      <p:sp>
        <p:nvSpPr>
          <p:cNvPr id="1" name="tb"/>
          <p:cNvSpPr txBox="1"/>
          <p:nvPr/>
        </p:nvSpPr>
        <p:spPr>
          <a:xfrm>
            <a:off x="8676000" y="2851199"/>
            <a:ext cx="1620000" cy="2952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algn="ctr"/>
            <a:r>
              <a:rPr lang="uz-UZ" altLang="en-US" sz="1000" dirty="0">
                <a:solidFill>
                  <a:srgbClr val="FFFFFF"/>
                </a:solidFill>
                <a:latin typeface="Calibri"/>
              </a:rPr>
              <a:t>Kod</a:t>
            </a:r>
          </a:p>
        </p:txBody>
      </p:sp>
      <p:sp>
        <p:nvSpPr>
          <p:cNvPr id="1" name="tb"/>
          <p:cNvSpPr txBox="1"/>
          <p:nvPr/>
        </p:nvSpPr>
        <p:spPr>
          <a:xfrm>
            <a:off x="10332000" y="2851199"/>
            <a:ext cx="1620000" cy="2952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algn="ctr"/>
            <a:r>
              <a:rPr lang="uz-UZ" altLang="en-US" sz="1000" dirty="0">
                <a:solidFill>
                  <a:srgbClr val="FFFFFF"/>
                </a:solidFill>
                <a:latin typeface="Calibri"/>
              </a:rPr>
              <a:t>O'zbek tili</a:t>
            </a:r>
          </a:p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8640000" y="2829599"/>
            <a:ext cx="14400" cy="331200"/>
          </a:xfrm>
          <a:prstGeom prst="rect">
            <a:avLst/>
          </a:prstGeom>
          <a:solidFill>
            <a:srgbClr val="00C6FF">
              <a:alpha val="5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0296000" y="2829599"/>
            <a:ext cx="14400" cy="331200"/>
          </a:xfrm>
          <a:prstGeom prst="rect">
            <a:avLst/>
          </a:prstGeom>
          <a:solidFill>
            <a:srgbClr val="00C6FF">
              <a:alpha val="5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6983999" y="3167999"/>
            <a:ext cx="5040000" cy="331200"/>
          </a:xfrm>
          <a:prstGeom prst="rect">
            <a:avLst/>
          </a:prstGeom>
          <a:solidFill>
            <a:srgbClr val="0d2040">
              <a:alpha val="6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7020000" y="3189599"/>
            <a:ext cx="1620000" cy="2952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algn="ctr"/>
            <a:r>
              <a:rPr lang="uz-UZ" altLang="en-US" sz="1000" dirty="0">
                <a:solidFill>
                  <a:srgbClr val="B0C4DE"/>
                </a:solidFill>
                <a:latin typeface="Calibri"/>
              </a:rPr>
              <a:t>Tezlik</a:t>
            </a:r>
          </a:p>
        </p:txBody>
      </p:sp>
      <p:sp>
        <p:nvSpPr>
          <p:cNvPr id="1" name="tb"/>
          <p:cNvSpPr txBox="1"/>
          <p:nvPr/>
        </p:nvSpPr>
        <p:spPr>
          <a:xfrm>
            <a:off x="8676000" y="3189599"/>
            <a:ext cx="1620000" cy="2952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algn="ctr"/>
            <a:r>
              <a:rPr lang="uz-UZ" altLang="en-US" sz="1000" dirty="0">
                <a:solidFill>
                  <a:srgbClr val="FFFFFF"/>
                </a:solidFill>
                <a:latin typeface="Calibri"/>
              </a:rPr>
              <a:t>Tez</a:t>
            </a:r>
          </a:p>
        </p:txBody>
      </p:sp>
      <p:sp>
        <p:nvSpPr>
          <p:cNvPr id="1" name="tb"/>
          <p:cNvSpPr txBox="1"/>
          <p:nvPr/>
        </p:nvSpPr>
        <p:spPr>
          <a:xfrm>
            <a:off x="10332000" y="3189599"/>
            <a:ext cx="1620000" cy="2952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algn="ctr"/>
            <a:r>
              <a:rPr lang="uz-UZ" altLang="en-US" sz="1000" dirty="0">
                <a:solidFill>
                  <a:srgbClr val="FFFFFF"/>
                </a:solidFill>
                <a:latin typeface="Calibri"/>
              </a:rPr>
              <a:t>&lt;5 sekund</a:t>
            </a:r>
          </a:p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8640000" y="3167999"/>
            <a:ext cx="14400" cy="331200"/>
          </a:xfrm>
          <a:prstGeom prst="rect">
            <a:avLst/>
          </a:prstGeom>
          <a:solidFill>
            <a:srgbClr val="00C6FF">
              <a:alpha val="5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0296000" y="3167999"/>
            <a:ext cx="14400" cy="331200"/>
          </a:xfrm>
          <a:prstGeom prst="rect">
            <a:avLst/>
          </a:prstGeom>
          <a:solidFill>
            <a:srgbClr val="00C6FF">
              <a:alpha val="5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6983999" y="3506399"/>
            <a:ext cx="5040000" cy="331200"/>
          </a:xfrm>
          <a:prstGeom prst="rect">
            <a:avLst/>
          </a:prstGeom>
          <a:solidFill>
            <a:srgbClr val="0a1a2e">
              <a:alpha val="6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7020000" y="3527999"/>
            <a:ext cx="1620000" cy="2952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algn="ctr"/>
            <a:r>
              <a:rPr lang="uz-UZ" altLang="en-US" sz="1000" dirty="0">
                <a:solidFill>
                  <a:srgbClr val="B0C4DE"/>
                </a:solidFill>
                <a:latin typeface="Calibri"/>
              </a:rPr>
              <a:t>Auto-fix</a:t>
            </a:r>
          </a:p>
        </p:txBody>
      </p:sp>
      <p:sp>
        <p:nvSpPr>
          <p:cNvPr id="1" name="tb"/>
          <p:cNvSpPr txBox="1"/>
          <p:nvPr/>
        </p:nvSpPr>
        <p:spPr>
          <a:xfrm>
            <a:off x="8676000" y="3527999"/>
            <a:ext cx="1620000" cy="2952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algn="ctr"/>
            <a:r>
              <a:rPr lang="uz-UZ" altLang="en-US" sz="1000" dirty="0">
                <a:solidFill>
                  <a:srgbClr val="FF5252"/>
                </a:solidFill>
                <a:latin typeface="Calibri"/>
              </a:rPr>
              <a:t>❌</a:t>
            </a:r>
          </a:p>
        </p:txBody>
      </p:sp>
      <p:sp>
        <p:nvSpPr>
          <p:cNvPr id="1" name="tb"/>
          <p:cNvSpPr txBox="1"/>
          <p:nvPr/>
        </p:nvSpPr>
        <p:spPr>
          <a:xfrm>
            <a:off x="10332000" y="3527999"/>
            <a:ext cx="1620000" cy="2952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algn="ctr"/>
            <a:r>
              <a:rPr lang="uz-UZ" altLang="en-US" sz="1000" dirty="0">
                <a:solidFill>
                  <a:srgbClr val="00E676"/>
                </a:solidFill>
                <a:latin typeface="Calibri"/>
              </a:rPr>
              <a:t>✅ Kod beradi</a:t>
            </a:r>
          </a:p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8640000" y="3506399"/>
            <a:ext cx="14400" cy="331200"/>
          </a:xfrm>
          <a:prstGeom prst="rect">
            <a:avLst/>
          </a:prstGeom>
          <a:solidFill>
            <a:srgbClr val="00C6FF">
              <a:alpha val="5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0296000" y="3506399"/>
            <a:ext cx="14400" cy="331200"/>
          </a:xfrm>
          <a:prstGeom prst="rect">
            <a:avLst/>
          </a:prstGeom>
          <a:solidFill>
            <a:srgbClr val="00C6FF">
              <a:alpha val="50000"/>
            </a:srgbClr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F2547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1007999"/>
          </a:xfrm>
          <a:prstGeom prst="rect">
            <a:avLst/>
          </a:prstGeom>
          <a:solidFill>
            <a:srgbClr val="081424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972000"/>
            <a:ext cx="12193200" cy="432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44000" y="125999"/>
            <a:ext cx="100800" cy="7560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360000" y="108000"/>
            <a:ext cx="11340000" cy="792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/>
            <a:r>
              <a:rPr lang="uz-UZ" altLang="en-US" sz="2100" b="1" dirty="0">
                <a:solidFill>
                  <a:srgbClr val="FFFFFF"/>
                </a:solidFill>
                <a:latin typeface="Calibri"/>
              </a:rPr>
              <a:t>2.1 — Funksional Talablar: Bosh Sahifa (Home Page)</a:t>
            </a:r>
          </a:p>
        </p:txBody>
      </p:sp>
      <p:sp>
        <p:nvSpPr>
          <p:cNvPr id="1" name="tb"/>
          <p:cNvSpPr txBox="1"/>
          <p:nvPr/>
        </p:nvSpPr>
        <p:spPr>
          <a:xfrm>
            <a:off x="11520000" y="6408000"/>
            <a:ext cx="540000" cy="324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algn="r"/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7</a:t>
            </a:r>
          </a:p>
        </p:txBody>
      </p:sp>
      <p:pic>
        <p:nvPicPr>
          <p:cNvPr id="10" name="img"/>
          <p:cNvPicPr/>
          <p:nvPr/>
        </p:nvPicPr>
        <p:blipFill>
          <a:blip r:embed="rId6"/>
          <a:stretch>
            <a:fillRect/>
          </a:stretch>
        </p:blipFill>
        <p:spPr>
          <a:xfrm>
            <a:off x="144000" y="1044000"/>
            <a:ext cx="7380000" cy="4860000"/>
          </a:xfrm>
          <a:prstGeom prst="rect">
            <a:avLst/>
          </a:prstGeom>
        </p:spPr>
      </p:pic>
      <p:sp>
        <p:nvSpPr>
          <p:cNvPr id="2" name="r"/>
          <p:cNvSpPr>
            <a:spLocks noGrp="1"/>
          </p:cNvSpPr>
          <p:nvPr/>
        </p:nvSpPr>
        <p:spPr>
          <a:xfrm>
            <a:off x="144000" y="1044000"/>
            <a:ext cx="7380000" cy="252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44000" y="5878799"/>
            <a:ext cx="7380000" cy="252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44000" y="1044000"/>
            <a:ext cx="25200" cy="48600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7498799" y="1044000"/>
            <a:ext cx="25200" cy="48600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44000" y="5922000"/>
            <a:ext cx="7380000" cy="251999"/>
          </a:xfrm>
          <a:prstGeom prst="rect">
            <a:avLst/>
          </a:prstGeom>
          <a:solidFill>
            <a:srgbClr val="081424">
              <a:alpha val="9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144000" y="5932800"/>
            <a:ext cx="7380000" cy="234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/>
            <a:r>
              <a:rPr lang="uz-UZ" altLang="en-US" sz="900" dirty="0">
                <a:solidFill>
                  <a:srgbClr val="00C6FF"/>
                </a:solidFill>
                <a:latin typeface="Calibri"/>
              </a:rPr>
              <a:t>  📸  Home Page — Tizimning kirish moduli</a:t>
            </a:r>
          </a:p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7703999" y="1044000"/>
            <a:ext cx="4320000" cy="4860000"/>
          </a:xfrm>
          <a:prstGeom prst="roundRect">
            <a:avLst>
              <a:gd name="adj" fmla="val 8000"/>
            </a:avLst>
          </a:prstGeom>
          <a:solidFill>
            <a:srgbClr val="081424">
              <a:alpha val="8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7703999" y="1044000"/>
            <a:ext cx="4320000" cy="180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7703999" y="5885999"/>
            <a:ext cx="4320000" cy="180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7703999" y="1044000"/>
            <a:ext cx="18000" cy="48600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2006000" y="1044000"/>
            <a:ext cx="18000" cy="48600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7703999" y="1044000"/>
            <a:ext cx="4320000" cy="306000"/>
          </a:xfrm>
          <a:prstGeom prst="rect">
            <a:avLst/>
          </a:prstGeom>
          <a:solidFill>
            <a:srgbClr val="7B2FBE">
              <a:alpha val="4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7703999" y="1044000"/>
            <a:ext cx="4320000" cy="306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/>
            <a:r>
              <a:rPr lang="uz-UZ" altLang="en-US" sz="1000" b="1" dirty="0">
                <a:solidFill>
                  <a:srgbClr val="FFFFFF"/>
                </a:solidFill>
                <a:latin typeface="Calibri"/>
              </a:rPr>
              <a:t>  Funksional vazifalar</a:t>
            </a:r>
          </a:p>
        </p:txBody>
      </p:sp>
      <p:sp>
        <p:nvSpPr>
          <p:cNvPr id="1" name="tb"/>
          <p:cNvSpPr txBox="1"/>
          <p:nvPr/>
        </p:nvSpPr>
        <p:spPr>
          <a:xfrm>
            <a:off x="7776000" y="1404000"/>
            <a:ext cx="4140000" cy="432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>
              <a:spcBef>
                <a:spcPts val="28"/>
              </a:spcBef>
            </a:pPr>
            <a:r>
              <a:rPr lang="uz-UZ" altLang="en-US" sz="1100" dirty="0">
                <a:solidFill>
                  <a:srgbClr val="FFFFFF"/>
                </a:solidFill>
                <a:latin typeface="Calibri"/>
              </a:rPr>
              <a:t>▸ GitHub/GitLab URL qabul qilish</a:t>
            </a:r>
          </a:p>
          <a:p>
            <a:pPr>
              <a:spcBef>
                <a:spcPts val="28"/>
              </a:spcBef>
            </a:pPr>
            <a:r>
              <a:rPr lang="uz-UZ" altLang="en-US" sz="1100" dirty="0">
                <a:solidFill>
                  <a:srgbClr val="FFFFFF"/>
                </a:solidFill>
                <a:latin typeface="Calibri"/>
              </a:rPr>
              <a:t>▸ Regex validatsiya + xavfsizlik tekshiruvi</a:t>
            </a:r>
          </a:p>
          <a:p>
            <a:pPr>
              <a:spcBef>
                <a:spcPts val="10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28"/>
              </a:spcBef>
            </a:pPr>
            <a:r>
              <a:rPr lang="uz-UZ" altLang="en-US" sz="1100" dirty="0">
                <a:solidFill>
                  <a:srgbClr val="FFFFFF"/>
                </a:solidFill>
                <a:latin typeface="Calibri"/>
              </a:rPr>
              <a:t>▸ Progressiv yuklanish animatsiyasi</a:t>
            </a:r>
          </a:p>
          <a:p>
            <a:pPr>
              <a:spcBef>
                <a:spcPts val="28"/>
              </a:spcBef>
            </a:pPr>
            <a:r>
              <a:rPr lang="uz-UZ" altLang="en-US" sz="1100" dirty="0">
                <a:solidFill>
                  <a:srgbClr val="FFFFFF"/>
                </a:solidFill>
                <a:latin typeface="Calibri"/>
              </a:rPr>
              <a:t>▸ Tayyor repozitoriyalar ro'yxati</a:t>
            </a:r>
          </a:p>
          <a:p>
            <a:pPr>
              <a:spcBef>
                <a:spcPts val="10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28"/>
              </a:spcBef>
            </a:pPr>
            <a:r>
              <a:rPr lang="uz-UZ" altLang="en-US" sz="1100" dirty="0">
                <a:solidFill>
                  <a:srgbClr val="FFFFFF"/>
                </a:solidFill>
                <a:latin typeface="Calibri"/>
              </a:rPr>
              <a:t>▸ Dark Mode + Neon effektli dizayn</a:t>
            </a:r>
          </a:p>
          <a:p>
            <a:pPr>
              <a:spcBef>
                <a:spcPts val="35"/>
              </a:spcBef>
            </a:pPr>
            <a:r>
              <a:rPr lang="uz-UZ" altLang="en-US" sz="1100" b="1" dirty="0">
                <a:solidFill>
                  <a:srgbClr val="FFD700"/>
                </a:solidFill>
                <a:latin typeface="Calibri"/>
              </a:rPr>
              <a:t>Kirish qayta ishlash mantiqiy zanjiri:</a:t>
            </a:r>
          </a:p>
          <a:p>
            <a:pPr>
              <a:spcBef>
                <a:spcPts val="28"/>
              </a:spcBef>
            </a:pPr>
            <a:r>
              <a:rPr lang="uz-UZ" altLang="en-US" sz="1100" dirty="0">
                <a:solidFill>
                  <a:srgbClr val="FFFFFF"/>
                </a:solidFill>
                <a:latin typeface="Calibri"/>
              </a:rPr>
              <a:t>▸   URL → Validatsiya → Backend clone</a:t>
            </a:r>
          </a:p>
          <a:p>
            <a:pPr>
              <a:spcBef>
                <a:spcPts val="28"/>
              </a:spcBef>
            </a:pPr>
            <a:r>
              <a:rPr lang="uz-UZ" altLang="en-US" sz="1100" dirty="0">
                <a:solidFill>
                  <a:srgbClr val="FFFFFF"/>
                </a:solidFill>
                <a:latin typeface="Calibri"/>
              </a:rPr>
              <a:t>▸   → Commits sahifasiga yo'naltirish</a:t>
            </a:r>
          </a:p>
          <a:p>
            <a:pPr>
              <a:spcBef>
                <a:spcPts val="10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35"/>
              </a:spcBef>
            </a:pPr>
            <a:r>
              <a:rPr lang="uz-UZ" altLang="en-US" sz="1100" b="1" dirty="0">
                <a:solidFill>
                  <a:srgbClr val="FFD700"/>
                </a:solidFill>
                <a:latin typeface="Calibri"/>
              </a:rPr>
              <a:t>Nofunksional talablar:</a:t>
            </a:r>
          </a:p>
          <a:p>
            <a:pPr>
              <a:spcBef>
                <a:spcPts val="28"/>
              </a:spcBef>
            </a:pPr>
            <a:r>
              <a:rPr lang="uz-UZ" altLang="en-US" sz="1100" dirty="0">
                <a:solidFill>
                  <a:srgbClr val="FFFFFF"/>
                </a:solidFill>
                <a:latin typeface="Calibri"/>
              </a:rPr>
              <a:t>▸   API javob vaqti &lt; 200ms</a:t>
            </a:r>
          </a:p>
          <a:p>
            <a:pPr>
              <a:spcBef>
                <a:spcPts val="28"/>
              </a:spcBef>
            </a:pPr>
            <a:r>
              <a:rPr lang="uz-UZ" altLang="en-US" sz="1100" dirty="0">
                <a:solidFill>
                  <a:srgbClr val="FFFFFF"/>
                </a:solidFill>
                <a:latin typeface="Calibri"/>
              </a:rPr>
              <a:t>▸   CORS himoya protokoli</a:t>
            </a:r>
          </a:p>
          <a:p>
            <a:pPr>
              <a:spcBef>
                <a:spcPts val="28"/>
              </a:spcBef>
            </a:pPr>
            <a:r>
              <a:rPr lang="uz-UZ" altLang="en-US" sz="1100" dirty="0">
                <a:solidFill>
                  <a:srgbClr val="FFFFFF"/>
                </a:solidFill>
                <a:latin typeface="Calibri"/>
              </a:rPr>
              <a:t>▸   Input sanitizatsiya (XSS himoya)</a:t>
            </a:r>
          </a:p>
        </p:txBody>
      </p:sp>
    </p:spTree>
  </p:cSld>
  <p:clrMapOvr>
    <a:masterClr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F2547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1007999"/>
          </a:xfrm>
          <a:prstGeom prst="rect">
            <a:avLst/>
          </a:prstGeom>
          <a:solidFill>
            <a:srgbClr val="081424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972000"/>
            <a:ext cx="12193200" cy="432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44000" y="125999"/>
            <a:ext cx="100800" cy="7560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360000" y="108000"/>
            <a:ext cx="11340000" cy="792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/>
            <a:r>
              <a:rPr lang="uz-UZ" altLang="en-US" sz="2100" b="1" dirty="0">
                <a:solidFill>
                  <a:srgbClr val="FFFFFF"/>
                </a:solidFill>
                <a:latin typeface="Calibri"/>
              </a:rPr>
              <a:t>2.1 — Commits Sahifasi: Repository Explorer</a:t>
            </a:r>
          </a:p>
        </p:txBody>
      </p:sp>
      <p:sp>
        <p:nvSpPr>
          <p:cNvPr id="1" name="tb"/>
          <p:cNvSpPr txBox="1"/>
          <p:nvPr/>
        </p:nvSpPr>
        <p:spPr>
          <a:xfrm>
            <a:off x="11520000" y="6408000"/>
            <a:ext cx="540000" cy="324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algn="r"/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8</a:t>
            </a:r>
          </a:p>
        </p:txBody>
      </p:sp>
      <p:pic>
        <p:nvPicPr>
          <p:cNvPr id="10" name="img"/>
          <p:cNvPicPr/>
          <p:nvPr/>
        </p:nvPicPr>
        <p:blipFill>
          <a:blip r:embed="rId7"/>
          <a:stretch>
            <a:fillRect/>
          </a:stretch>
        </p:blipFill>
        <p:spPr>
          <a:xfrm>
            <a:off x="144000" y="1044000"/>
            <a:ext cx="7380000" cy="4860000"/>
          </a:xfrm>
          <a:prstGeom prst="rect">
            <a:avLst/>
          </a:prstGeom>
        </p:spPr>
      </p:pic>
      <p:sp>
        <p:nvSpPr>
          <p:cNvPr id="2" name="r"/>
          <p:cNvSpPr>
            <a:spLocks noGrp="1"/>
          </p:cNvSpPr>
          <p:nvPr/>
        </p:nvSpPr>
        <p:spPr>
          <a:xfrm>
            <a:off x="144000" y="1044000"/>
            <a:ext cx="7380000" cy="252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44000" y="5878799"/>
            <a:ext cx="7380000" cy="252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44000" y="1044000"/>
            <a:ext cx="25200" cy="48600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7498799" y="1044000"/>
            <a:ext cx="25200" cy="48600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44000" y="5922000"/>
            <a:ext cx="7380000" cy="251999"/>
          </a:xfrm>
          <a:prstGeom prst="rect">
            <a:avLst/>
          </a:prstGeom>
          <a:solidFill>
            <a:srgbClr val="081424">
              <a:alpha val="9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144000" y="5932800"/>
            <a:ext cx="7380000" cy="234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/>
            <a:r>
              <a:rPr lang="uz-UZ" altLang="en-US" sz="900" dirty="0">
                <a:solidFill>
                  <a:srgbClr val="00C6FF"/>
                </a:solidFill>
                <a:latin typeface="Calibri"/>
              </a:rPr>
              <a:t>  📸  Commits sahifasi — Repository Explorer</a:t>
            </a:r>
          </a:p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7703999" y="1044000"/>
            <a:ext cx="4320000" cy="4860000"/>
          </a:xfrm>
          <a:prstGeom prst="roundRect">
            <a:avLst>
              <a:gd name="adj" fmla="val 8000"/>
            </a:avLst>
          </a:prstGeom>
          <a:solidFill>
            <a:srgbClr val="081424">
              <a:alpha val="8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7703999" y="1044000"/>
            <a:ext cx="4320000" cy="180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7703999" y="5885999"/>
            <a:ext cx="4320000" cy="180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7703999" y="1044000"/>
            <a:ext cx="18000" cy="48600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2006000" y="1044000"/>
            <a:ext cx="18000" cy="48600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7703999" y="1044000"/>
            <a:ext cx="4320000" cy="306000"/>
          </a:xfrm>
          <a:prstGeom prst="rect">
            <a:avLst/>
          </a:prstGeom>
          <a:solidFill>
            <a:srgbClr val="7B2FBE">
              <a:alpha val="4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7703999" y="1044000"/>
            <a:ext cx="4320000" cy="306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/>
            <a:r>
              <a:rPr lang="uz-UZ" altLang="en-US" sz="1000" b="1" dirty="0">
                <a:solidFill>
                  <a:srgbClr val="FFFFFF"/>
                </a:solidFill>
                <a:latin typeface="Calibri"/>
              </a:rPr>
              <a:t>  Commits sahifasi</a:t>
            </a:r>
          </a:p>
        </p:txBody>
      </p:sp>
      <p:sp>
        <p:nvSpPr>
          <p:cNvPr id="1" name="tb"/>
          <p:cNvSpPr txBox="1"/>
          <p:nvPr/>
        </p:nvSpPr>
        <p:spPr>
          <a:xfrm>
            <a:off x="7776000" y="1404000"/>
            <a:ext cx="4140000" cy="432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>
              <a:spcBef>
                <a:spcPts val="28"/>
              </a:spcBef>
            </a:pPr>
            <a:r>
              <a:rPr lang="uz-UZ" altLang="en-US" sz="1100" dirty="0">
                <a:solidFill>
                  <a:srgbClr val="FFFFFF"/>
                </a:solidFill>
                <a:latin typeface="Calibri"/>
              </a:rPr>
              <a:t>▸ Backend klonlashdan so'ng avtomatik ochiladi</a:t>
            </a:r>
          </a:p>
          <a:p>
            <a:pPr>
              <a:spcBef>
                <a:spcPts val="10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35"/>
              </a:spcBef>
            </a:pPr>
            <a:r>
              <a:rPr lang="uz-UZ" altLang="en-US" sz="1100" b="1" dirty="0">
                <a:solidFill>
                  <a:srgbClr val="FFD700"/>
                </a:solidFill>
                <a:latin typeface="Calibri"/>
              </a:rPr>
              <a:t>4 ta statistik kartochka:</a:t>
            </a:r>
          </a:p>
          <a:p>
            <a:pPr>
              <a:spcBef>
                <a:spcPts val="28"/>
              </a:spcBef>
            </a:pPr>
            <a:r>
              <a:rPr lang="uz-UZ" altLang="en-US" sz="1100" dirty="0">
                <a:solidFill>
                  <a:srgbClr val="FFFFFF"/>
                </a:solidFill>
                <a:latin typeface="Calibri"/>
              </a:rPr>
              <a:t>▸   Jami commitlar soni</a:t>
            </a:r>
          </a:p>
          <a:p>
            <a:pPr>
              <a:spcBef>
                <a:spcPts val="28"/>
              </a:spcBef>
            </a:pPr>
            <a:r>
              <a:rPr lang="uz-UZ" altLang="en-US" sz="1100" dirty="0">
                <a:solidFill>
                  <a:srgbClr val="FFFFFF"/>
                </a:solidFill>
                <a:latin typeface="Calibri"/>
              </a:rPr>
              <a:t>▸   Jami qo'shilgan/o'chirilgan qatorlar</a:t>
            </a:r>
          </a:p>
          <a:p>
            <a:pPr>
              <a:spcBef>
                <a:spcPts val="28"/>
              </a:spcBef>
            </a:pPr>
            <a:r>
              <a:rPr lang="uz-UZ" altLang="en-US" sz="1100" dirty="0">
                <a:solidFill>
                  <a:srgbClr val="FFFFFF"/>
                </a:solidFill>
                <a:latin typeface="Calibri"/>
              </a:rPr>
              <a:t>▸   Mualliflar soni</a:t>
            </a:r>
          </a:p>
          <a:p>
            <a:pPr>
              <a:spcBef>
                <a:spcPts val="28"/>
              </a:spcBef>
            </a:pPr>
            <a:r>
              <a:rPr lang="uz-UZ" altLang="en-US" sz="1100" dirty="0">
                <a:solidFill>
                  <a:srgbClr val="FFFFFF"/>
                </a:solidFill>
                <a:latin typeface="Calibri"/>
              </a:rPr>
              <a:t>▸   O'zgargan fayllar soni</a:t>
            </a:r>
          </a:p>
          <a:p>
            <a:pPr>
              <a:spcBef>
                <a:spcPts val="10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35"/>
              </a:spcBef>
            </a:pPr>
            <a:r>
              <a:rPr lang="uz-UZ" altLang="en-US" sz="1100" b="1" dirty="0">
                <a:solidFill>
                  <a:srgbClr val="FFD700"/>
                </a:solidFill>
                <a:latin typeface="Calibri"/>
              </a:rPr>
              <a:t>Qidiruv va saralash:</a:t>
            </a:r>
          </a:p>
          <a:p>
            <a:pPr>
              <a:spcBef>
                <a:spcPts val="28"/>
              </a:spcBef>
            </a:pPr>
            <a:r>
              <a:rPr lang="uz-UZ" altLang="en-US" sz="1100" dirty="0">
                <a:solidFill>
                  <a:srgbClr val="FFFFFF"/>
                </a:solidFill>
                <a:latin typeface="Calibri"/>
              </a:rPr>
              <a:t>▸   Commit xabar matni bo'yicha</a:t>
            </a:r>
          </a:p>
          <a:p>
            <a:pPr>
              <a:spcBef>
                <a:spcPts val="28"/>
              </a:spcBef>
            </a:pPr>
            <a:r>
              <a:rPr lang="uz-UZ" altLang="en-US" sz="1100" dirty="0">
                <a:solidFill>
                  <a:srgbClr val="FFFFFF"/>
                </a:solidFill>
                <a:latin typeface="Calibri"/>
              </a:rPr>
              <a:t>▸   Muallif ismi bo'yicha</a:t>
            </a:r>
          </a:p>
          <a:p>
            <a:pPr>
              <a:spcBef>
                <a:spcPts val="28"/>
              </a:spcBef>
            </a:pPr>
            <a:r>
              <a:rPr lang="uz-UZ" altLang="en-US" sz="1100" dirty="0">
                <a:solidFill>
                  <a:srgbClr val="FFFFFF"/>
                </a:solidFill>
                <a:latin typeface="Calibri"/>
              </a:rPr>
              <a:t>▸   Commit ID bo'yicha</a:t>
            </a:r>
          </a:p>
          <a:p>
            <a:pPr>
              <a:spcBef>
                <a:spcPts val="10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35"/>
              </a:spcBef>
            </a:pPr>
            <a:r>
              <a:rPr lang="uz-UZ" altLang="en-US" sz="1100" b="1" dirty="0">
                <a:solidFill>
                  <a:srgbClr val="FFD700"/>
                </a:solidFill>
                <a:latin typeface="Calibri"/>
              </a:rPr>
              <a:t>Commit tanlash:</a:t>
            </a:r>
          </a:p>
          <a:p>
            <a:pPr>
              <a:spcBef>
                <a:spcPts val="28"/>
              </a:spcBef>
            </a:pPr>
            <a:r>
              <a:rPr lang="uz-UZ" altLang="en-US" sz="1100" dirty="0">
                <a:solidFill>
                  <a:srgbClr val="FFFFFF"/>
                </a:solidFill>
                <a:latin typeface="Calibri"/>
              </a:rPr>
              <a:t>▸   To'liq ob'ekt xotirada saqlanadi</a:t>
            </a:r>
          </a:p>
          <a:p>
            <a:pPr>
              <a:spcBef>
                <a:spcPts val="28"/>
              </a:spcBef>
            </a:pPr>
            <a:r>
              <a:rPr lang="uz-UZ" altLang="en-US" sz="1100" dirty="0">
                <a:solidFill>
                  <a:srgbClr val="FFFFFF"/>
                </a:solidFill>
                <a:latin typeface="Calibri"/>
              </a:rPr>
              <a:t>▸   Diff sahifasiga uzatiladi</a:t>
            </a:r>
          </a:p>
        </p:txBody>
      </p:sp>
    </p:spTree>
  </p:cSld>
  <p:clrMapOvr>
    <a:masterClr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F2547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1007999"/>
          </a:xfrm>
          <a:prstGeom prst="rect">
            <a:avLst/>
          </a:prstGeom>
          <a:solidFill>
            <a:srgbClr val="081424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972000"/>
            <a:ext cx="12193200" cy="432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44000" y="125999"/>
            <a:ext cx="100800" cy="7560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360000" y="108000"/>
            <a:ext cx="11340000" cy="792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/>
            <a:r>
              <a:rPr lang="uz-UZ" altLang="en-US" sz="2100" b="1" dirty="0">
                <a:solidFill>
                  <a:srgbClr val="FFFFFF"/>
                </a:solidFill>
                <a:latin typeface="Calibri"/>
              </a:rPr>
              <a:t>2.2 — Router-Controller Andozasi va Axborot Oqimlari</a:t>
            </a:r>
          </a:p>
        </p:txBody>
      </p:sp>
      <p:sp>
        <p:nvSpPr>
          <p:cNvPr id="1" name="tb"/>
          <p:cNvSpPr txBox="1"/>
          <p:nvPr/>
        </p:nvSpPr>
        <p:spPr>
          <a:xfrm>
            <a:off x="11520000" y="6408000"/>
            <a:ext cx="540000" cy="324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algn="r"/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9</a:t>
            </a:r>
          </a:p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44000" y="1044000"/>
            <a:ext cx="11833200" cy="1512000"/>
          </a:xfrm>
          <a:prstGeom prst="roundRect">
            <a:avLst>
              <a:gd name="adj" fmla="val 8000"/>
            </a:avLst>
          </a:prstGeom>
          <a:solidFill>
            <a:srgbClr val="081424">
              <a:alpha val="8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44000" y="1044000"/>
            <a:ext cx="11833200" cy="180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44000" y="2538000"/>
            <a:ext cx="11833200" cy="180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44000" y="1044000"/>
            <a:ext cx="18000" cy="15120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1959200" y="1044000"/>
            <a:ext cx="18000" cy="15120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288000" y="1080000"/>
            <a:ext cx="11520000" cy="1404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>
              <a:spcBef>
                <a:spcPts val="40"/>
              </a:spcBef>
            </a:pPr>
            <a:r>
              <a:rPr lang="uz-UZ" altLang="en-US" sz="1200" b="1" dirty="0">
                <a:solidFill>
                  <a:srgbClr val="FFD700"/>
                </a:solidFill>
                <a:latin typeface="Calibri"/>
              </a:rPr>
              <a:t>Router qatlami (routes/)</a:t>
            </a:r>
          </a:p>
          <a:p>
            <a:pPr>
              <a:spcBef>
                <a:spcPts val="25"/>
              </a:spcBef>
            </a:pPr>
            <a:r>
              <a:rPr lang="uz-UZ" altLang="en-US" sz="1100" dirty="0">
                <a:solidFill>
                  <a:srgbClr val="B0C4DE"/>
                </a:solidFill>
                <a:latin typeface="Calibri"/>
              </a:rPr>
              <a:t>gitRoutes.js → /api/git/clone, /api/git/commits, /api/git/diff  |  aiRoutes.js → /api/ai/analyze</a:t>
            </a:r>
          </a:p>
          <a:p>
            <a:pPr>
              <a:spcBef>
                <a:spcPts val="40"/>
              </a:spcBef>
            </a:pPr>
            <a:r>
              <a:rPr lang="uz-UZ" altLang="en-US" sz="1200" b="1" dirty="0">
                <a:solidFill>
                  <a:srgbClr val="FFD700"/>
                </a:solidFill>
                <a:latin typeface="Calibri"/>
              </a:rPr>
              <a:t>Controller qatlami (controllers/)</a:t>
            </a:r>
          </a:p>
          <a:p>
            <a:pPr>
              <a:spcBef>
                <a:spcPts val="25"/>
              </a:spcBef>
            </a:pPr>
            <a:r>
              <a:rPr lang="uz-UZ" altLang="en-US" sz="1100" dirty="0">
                <a:solidFill>
                  <a:srgbClr val="B0C4DE"/>
                </a:solidFill>
                <a:latin typeface="Calibri"/>
              </a:rPr>
              <a:t>gitController.js → simple-git: clone, log, diff  |  aiController.js → Gemini SDK + Prompt Engineering</a:t>
            </a:r>
          </a:p>
          <a:p>
            <a:pPr>
              <a:spcBef>
                <a:spcPts val="40"/>
              </a:spcBef>
            </a:pPr>
            <a:r>
              <a:rPr lang="uz-UZ" altLang="en-US" sz="1200" b="1" dirty="0">
                <a:solidFill>
                  <a:srgbClr val="00E676"/>
                </a:solidFill>
                <a:latin typeface="Calibri"/>
              </a:rPr>
              <a:t>✅ Afzallik: LOOSE COUPLING — Gemini o'rniga boshqa LLM = FAQAT 1 fayl o'zgartirish!</a:t>
            </a:r>
          </a:p>
        </p:txBody>
      </p:sp>
      <p:pic>
        <p:nvPicPr>
          <p:cNvPr id="10" name="img"/>
          <p:cNvPicPr/>
          <p:nvPr/>
        </p:nvPicPr>
        <p:blipFill>
          <a:blip r:embed="rId8"/>
          <a:stretch>
            <a:fillRect/>
          </a:stretch>
        </p:blipFill>
        <p:spPr>
          <a:xfrm>
            <a:off x="144000" y="2628000"/>
            <a:ext cx="11833200" cy="3780000"/>
          </a:xfrm>
          <a:prstGeom prst="rect">
            <a:avLst/>
          </a:prstGeom>
        </p:spPr>
      </p:pic>
      <p:sp>
        <p:nvSpPr>
          <p:cNvPr id="2" name="r"/>
          <p:cNvSpPr>
            <a:spLocks noGrp="1"/>
          </p:cNvSpPr>
          <p:nvPr/>
        </p:nvSpPr>
        <p:spPr>
          <a:xfrm>
            <a:off x="144000" y="2628000"/>
            <a:ext cx="11833200" cy="252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44000" y="6382800"/>
            <a:ext cx="11833200" cy="252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44000" y="2628000"/>
            <a:ext cx="25200" cy="37800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1951999" y="2628000"/>
            <a:ext cx="25200" cy="37800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44000" y="6408000"/>
            <a:ext cx="11833200" cy="251999"/>
          </a:xfrm>
          <a:prstGeom prst="rect">
            <a:avLst/>
          </a:prstGeom>
          <a:solidFill>
            <a:srgbClr val="081424">
              <a:alpha val="9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144000" y="6418799"/>
            <a:ext cx="11833200" cy="234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/>
            <a:r>
              <a:rPr lang="uz-UZ" altLang="en-US" sz="900" dirty="0">
                <a:solidFill>
                  <a:srgbClr val="00C6FF"/>
                </a:solidFill>
                <a:latin typeface="Calibri"/>
              </a:rPr>
              <a:t>  📊  Axborot oqimlari arxitekturasi blok-sxemasi</a:t>
            </a:r>
          </a:p>
        </p:txBody>
      </p:sp>
    </p:spTree>
  </p:cSld>
  <p:clrMapOvr>
    <a:masterClr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F2547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1007999"/>
          </a:xfrm>
          <a:prstGeom prst="rect">
            <a:avLst/>
          </a:prstGeom>
          <a:solidFill>
            <a:srgbClr val="081424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972000"/>
            <a:ext cx="12193200" cy="432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44000" y="125999"/>
            <a:ext cx="100800" cy="7560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360000" y="108000"/>
            <a:ext cx="11340000" cy="792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/>
            <a:r>
              <a:rPr lang="uz-UZ" altLang="en-US" sz="2100" b="1" dirty="0">
                <a:solidFill>
                  <a:srgbClr val="FFFFFF"/>
                </a:solidFill>
                <a:latin typeface="Calibri"/>
              </a:rPr>
              <a:t>2.3 — Diff Viewer: Frontend-Backend Integratsiyasi</a:t>
            </a:r>
          </a:p>
        </p:txBody>
      </p:sp>
      <p:sp>
        <p:nvSpPr>
          <p:cNvPr id="1" name="tb"/>
          <p:cNvSpPr txBox="1"/>
          <p:nvPr/>
        </p:nvSpPr>
        <p:spPr>
          <a:xfrm>
            <a:off x="11520000" y="6408000"/>
            <a:ext cx="540000" cy="324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algn="r"/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10</a:t>
            </a:r>
          </a:p>
        </p:txBody>
      </p:sp>
      <p:pic>
        <p:nvPicPr>
          <p:cNvPr id="10" name="img"/>
          <p:cNvPicPr/>
          <p:nvPr/>
        </p:nvPicPr>
        <p:blipFill>
          <a:blip r:embed="rId9"/>
          <a:stretch>
            <a:fillRect/>
          </a:stretch>
        </p:blipFill>
        <p:spPr>
          <a:xfrm>
            <a:off x="144000" y="1044000"/>
            <a:ext cx="7380000" cy="4860000"/>
          </a:xfrm>
          <a:prstGeom prst="rect">
            <a:avLst/>
          </a:prstGeom>
        </p:spPr>
      </p:pic>
      <p:sp>
        <p:nvSpPr>
          <p:cNvPr id="2" name="r"/>
          <p:cNvSpPr>
            <a:spLocks noGrp="1"/>
          </p:cNvSpPr>
          <p:nvPr/>
        </p:nvSpPr>
        <p:spPr>
          <a:xfrm>
            <a:off x="144000" y="1044000"/>
            <a:ext cx="7380000" cy="252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44000" y="5878799"/>
            <a:ext cx="7380000" cy="252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44000" y="1044000"/>
            <a:ext cx="25200" cy="48600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7498799" y="1044000"/>
            <a:ext cx="25200" cy="48600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44000" y="5922000"/>
            <a:ext cx="7380000" cy="251999"/>
          </a:xfrm>
          <a:prstGeom prst="rect">
            <a:avLst/>
          </a:prstGeom>
          <a:solidFill>
            <a:srgbClr val="081424">
              <a:alpha val="9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144000" y="5932800"/>
            <a:ext cx="7380000" cy="234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/>
            <a:r>
              <a:rPr lang="uz-UZ" altLang="en-US" sz="900" dirty="0">
                <a:solidFill>
                  <a:srgbClr val="00C6FF"/>
                </a:solidFill>
                <a:latin typeface="Calibri"/>
              </a:rPr>
              <a:t>  📸  Diff Viewer — Kod o'zgarishlari vizualizatsiyasi</a:t>
            </a:r>
          </a:p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7703999" y="1044000"/>
            <a:ext cx="4320000" cy="4860000"/>
          </a:xfrm>
          <a:prstGeom prst="roundRect">
            <a:avLst>
              <a:gd name="adj" fmla="val 8000"/>
            </a:avLst>
          </a:prstGeom>
          <a:solidFill>
            <a:srgbClr val="081424">
              <a:alpha val="8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7703999" y="1044000"/>
            <a:ext cx="4320000" cy="180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7703999" y="5885999"/>
            <a:ext cx="4320000" cy="180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7703999" y="1044000"/>
            <a:ext cx="18000" cy="48600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2006000" y="1044000"/>
            <a:ext cx="18000" cy="48600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7703999" y="1044000"/>
            <a:ext cx="4320000" cy="306000"/>
          </a:xfrm>
          <a:prstGeom prst="rect">
            <a:avLst/>
          </a:prstGeom>
          <a:solidFill>
            <a:srgbClr val="7B2FBE">
              <a:alpha val="4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7703999" y="1044000"/>
            <a:ext cx="4320000" cy="306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/>
            <a:r>
              <a:rPr lang="uz-UZ" altLang="en-US" sz="1000" b="1" dirty="0">
                <a:solidFill>
                  <a:srgbClr val="FFFFFF"/>
                </a:solidFill>
                <a:latin typeface="Calibri"/>
              </a:rPr>
              <a:t>  Diff Viewer va Integratsiya</a:t>
            </a:r>
          </a:p>
        </p:txBody>
      </p:sp>
      <p:sp>
        <p:nvSpPr>
          <p:cNvPr id="1" name="tb"/>
          <p:cNvSpPr txBox="1"/>
          <p:nvPr/>
        </p:nvSpPr>
        <p:spPr>
          <a:xfrm>
            <a:off x="7776000" y="1404000"/>
            <a:ext cx="4140000" cy="432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>
              <a:spcBef>
                <a:spcPts val="30"/>
              </a:spcBef>
            </a:pPr>
            <a:r>
              <a:rPr lang="uz-UZ" altLang="en-US" sz="1100" b="1" dirty="0">
                <a:solidFill>
                  <a:srgbClr val="FFD700"/>
                </a:solidFill>
                <a:latin typeface="Calibri"/>
              </a:rPr>
              <a:t>Diff Viewer vazifalari:</a:t>
            </a:r>
          </a:p>
          <a:p>
            <a:pPr>
              <a:spcBef>
                <a:spcPts val="22"/>
              </a:spcBef>
            </a:pPr>
            <a:r>
              <a:rPr lang="uz-UZ" altLang="en-US" sz="1100" dirty="0">
                <a:solidFill>
                  <a:srgbClr val="FFFFFF"/>
                </a:solidFill>
                <a:latin typeface="Calibri"/>
              </a:rPr>
              <a:t>  Yashil (+): qo'shilgan qatorlar</a:t>
            </a:r>
          </a:p>
          <a:p>
            <a:pPr>
              <a:spcBef>
                <a:spcPts val="22"/>
              </a:spcBef>
            </a:pPr>
            <a:r>
              <a:rPr lang="uz-UZ" altLang="en-US" sz="1100" dirty="0">
                <a:solidFill>
                  <a:srgbClr val="FFFFFF"/>
                </a:solidFill>
                <a:latin typeface="Calibri"/>
              </a:rPr>
              <a:t>  Qizil (-): o'chirilgan qatorlar</a:t>
            </a:r>
          </a:p>
          <a:p>
            <a:pPr>
              <a:spcBef>
                <a:spcPts val="22"/>
              </a:spcBef>
            </a:pPr>
            <a:r>
              <a:rPr lang="uz-UZ" altLang="en-US" sz="1100" dirty="0">
                <a:solidFill>
                  <a:srgbClr val="FFFFFF"/>
                </a:solidFill>
                <a:latin typeface="Calibri"/>
              </a:rPr>
              <a:t>  Chap panel: fayllar ro'yxati</a:t>
            </a:r>
          </a:p>
          <a:p>
            <a:pPr>
              <a:spcBef>
                <a:spcPts val="22"/>
              </a:spcBef>
            </a:pPr>
            <a:r>
              <a:rPr lang="uz-UZ" altLang="en-US" sz="1100" dirty="0">
                <a:solidFill>
                  <a:srgbClr val="FFFFFF"/>
                </a:solidFill>
                <a:latin typeface="Calibri"/>
              </a:rPr>
              <a:t>  'AI izohi' tugmasi → Gemini</a:t>
            </a:r>
          </a:p>
          <a:p>
            <a:pPr>
              <a:spcBef>
                <a:spcPts val="8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30"/>
              </a:spcBef>
            </a:pPr>
            <a:r>
              <a:rPr lang="uz-UZ" altLang="en-US" sz="1100" b="1" dirty="0">
                <a:solidFill>
                  <a:srgbClr val="FFD700"/>
                </a:solidFill>
                <a:latin typeface="Calibri"/>
              </a:rPr>
              <a:t>RESTful integratsiya:</a:t>
            </a:r>
          </a:p>
          <a:p>
            <a:pPr>
              <a:spcBef>
                <a:spcPts val="22"/>
              </a:spcBef>
            </a:pPr>
            <a:r>
              <a:rPr lang="uz-UZ" altLang="en-US" sz="1100" dirty="0">
                <a:solidFill>
                  <a:srgbClr val="FFFFFF"/>
                </a:solidFill>
                <a:latin typeface="Calibri"/>
              </a:rPr>
              <a:t>  Axios asinxron HTTP so'rovlari</a:t>
            </a:r>
          </a:p>
          <a:p>
            <a:pPr>
              <a:spcBef>
                <a:spcPts val="22"/>
              </a:spcBef>
            </a:pPr>
            <a:r>
              <a:rPr lang="uz-UZ" altLang="en-US" sz="1100" dirty="0">
                <a:solidFill>
                  <a:srgbClr val="FFFFFF"/>
                </a:solidFill>
                <a:latin typeface="Calibri"/>
              </a:rPr>
              <a:t>  Global baseURL + interceptorlar</a:t>
            </a:r>
          </a:p>
          <a:p>
            <a:pPr>
              <a:spcBef>
                <a:spcPts val="22"/>
              </a:spcBef>
            </a:pPr>
            <a:r>
              <a:rPr lang="uz-UZ" altLang="en-US" sz="1100" dirty="0">
                <a:solidFill>
                  <a:srgbClr val="FFFFFF"/>
                </a:solidFill>
                <a:latin typeface="Calibri"/>
              </a:rPr>
              <a:t>  Loading state animatsiyasi</a:t>
            </a:r>
          </a:p>
          <a:p>
            <a:pPr>
              <a:spcBef>
                <a:spcPts val="8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30"/>
              </a:spcBef>
            </a:pPr>
            <a:r>
              <a:rPr lang="uz-UZ" altLang="en-US" sz="1100" b="1" dirty="0">
                <a:solidFill>
                  <a:srgbClr val="FFD700"/>
                </a:solidFill>
                <a:latin typeface="Calibri"/>
              </a:rPr>
              <a:t>CORS xavfsizlik:</a:t>
            </a:r>
          </a:p>
          <a:p>
            <a:pPr>
              <a:spcBef>
                <a:spcPts val="22"/>
              </a:spcBef>
            </a:pPr>
            <a:r>
              <a:rPr lang="uz-UZ" altLang="en-US" sz="1100" dirty="0">
                <a:solidFill>
                  <a:srgbClr val="FFFFFF"/>
                </a:solidFill>
                <a:latin typeface="Calibri"/>
              </a:rPr>
              <a:t>  Faqat ruxsat etilgan domenlar</a:t>
            </a:r>
          </a:p>
          <a:p>
            <a:pPr>
              <a:spcBef>
                <a:spcPts val="22"/>
              </a:spcBef>
            </a:pPr>
            <a:r>
              <a:rPr lang="uz-UZ" altLang="en-US" sz="1100" dirty="0">
                <a:solidFill>
                  <a:srgbClr val="FFFFFF"/>
                </a:solidFill>
                <a:latin typeface="Calibri"/>
              </a:rPr>
              <a:t>  CSRF hujumlardan himoya</a:t>
            </a:r>
          </a:p>
          <a:p>
            <a:pPr>
              <a:spcBef>
                <a:spcPts val="8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30"/>
              </a:spcBef>
            </a:pPr>
            <a:r>
              <a:rPr lang="uz-UZ" altLang="en-US" sz="1100" b="1" dirty="0">
                <a:solidFill>
                  <a:srgbClr val="FFD700"/>
                </a:solidFill>
                <a:latin typeface="Calibri"/>
              </a:rPr>
              <a:t>State Management:</a:t>
            </a:r>
          </a:p>
          <a:p>
            <a:pPr>
              <a:spcBef>
                <a:spcPts val="22"/>
              </a:spcBef>
            </a:pPr>
            <a:r>
              <a:rPr lang="uz-UZ" altLang="en-US" sz="1100" dirty="0">
                <a:solidFill>
                  <a:srgbClr val="FFFFFF"/>
                </a:solidFill>
                <a:latin typeface="Calibri"/>
              </a:rPr>
              <a:t>  App.jsx markaziy useState</a:t>
            </a:r>
          </a:p>
          <a:p>
            <a:pPr>
              <a:spcBef>
                <a:spcPts val="22"/>
              </a:spcBef>
            </a:pPr>
            <a:r>
              <a:rPr lang="uz-UZ" altLang="en-US" sz="1100" dirty="0">
                <a:solidFill>
                  <a:srgbClr val="FFFFFF"/>
                </a:solidFill>
                <a:latin typeface="Calibri"/>
              </a:rPr>
              <a:t>  5 sahifaga prop drilling</a:t>
            </a:r>
          </a:p>
        </p:txBody>
      </p:sp>
    </p:spTree>
  </p:cSld>
  <p:clrMapOvr>
    <a:masterClr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F2547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1007999"/>
          </a:xfrm>
          <a:prstGeom prst="rect">
            <a:avLst/>
          </a:prstGeom>
          <a:solidFill>
            <a:srgbClr val="081424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972000"/>
            <a:ext cx="12193200" cy="432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44000" y="125999"/>
            <a:ext cx="100800" cy="7560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360000" y="108000"/>
            <a:ext cx="11340000" cy="792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/>
            <a:r>
              <a:rPr lang="uz-UZ" altLang="en-US" sz="2100" b="1" dirty="0">
                <a:solidFill>
                  <a:srgbClr val="FFFFFF"/>
                </a:solidFill>
                <a:latin typeface="Calibri"/>
              </a:rPr>
              <a:t>3.1 — Node.js/Express.js Backend Realizatsiyasi</a:t>
            </a:r>
          </a:p>
        </p:txBody>
      </p:sp>
      <p:sp>
        <p:nvSpPr>
          <p:cNvPr id="1" name="tb"/>
          <p:cNvSpPr txBox="1"/>
          <p:nvPr/>
        </p:nvSpPr>
        <p:spPr>
          <a:xfrm>
            <a:off x="11520000" y="6408000"/>
            <a:ext cx="540000" cy="324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algn="r"/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11</a:t>
            </a:r>
          </a:p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44000" y="1116000"/>
            <a:ext cx="5832000" cy="5472000"/>
          </a:xfrm>
          <a:prstGeom prst="roundRect">
            <a:avLst>
              <a:gd name="adj" fmla="val 8000"/>
            </a:avLst>
          </a:prstGeom>
          <a:solidFill>
            <a:srgbClr val="081424">
              <a:alpha val="8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44000" y="1116000"/>
            <a:ext cx="5832000" cy="180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44000" y="6570000"/>
            <a:ext cx="5832000" cy="180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44000" y="1116000"/>
            <a:ext cx="18000" cy="54720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5957999" y="1116000"/>
            <a:ext cx="18000" cy="54720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44000" y="1116000"/>
            <a:ext cx="5832000" cy="306000"/>
          </a:xfrm>
          <a:prstGeom prst="rect">
            <a:avLst/>
          </a:prstGeom>
          <a:solidFill>
            <a:srgbClr val="7B2FBE">
              <a:alpha val="4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144000" y="1116000"/>
            <a:ext cx="5832000" cy="306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/>
            <a:r>
              <a:rPr lang="uz-UZ" altLang="en-US" sz="1000" b="1" dirty="0">
                <a:solidFill>
                  <a:srgbClr val="FFFFFF"/>
                </a:solidFill>
                <a:latin typeface="Calibri"/>
              </a:rPr>
              <a:t>  Texnik stack</a:t>
            </a:r>
          </a:p>
        </p:txBody>
      </p:sp>
      <p:sp>
        <p:nvSpPr>
          <p:cNvPr id="1" name="tb"/>
          <p:cNvSpPr txBox="1"/>
          <p:nvPr/>
        </p:nvSpPr>
        <p:spPr>
          <a:xfrm>
            <a:off x="251999" y="1475999"/>
            <a:ext cx="5580000" cy="4968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>
              <a:spcBef>
                <a:spcPts val="40"/>
              </a:spcBef>
            </a:pPr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▸ </a:t>
            </a:r>
            <a:r>
              <a:rPr lang="uz-UZ" altLang="en-US" sz="1100" b="1" dirty="0">
                <a:solidFill>
                  <a:srgbClr val="FFD700"/>
                </a:solidFill>
                <a:latin typeface="Calibri"/>
              </a:rPr>
              <a:t>Node.js</a:t>
            </a:r>
          </a:p>
          <a:p>
            <a:pPr>
              <a:spcBef>
                <a:spcPts val="20"/>
              </a:spcBef>
            </a:pPr>
            <a:r>
              <a:rPr lang="uz-UZ" altLang="en-US" sz="1000" dirty="0">
                <a:solidFill>
                  <a:srgbClr val="B0C4DE"/>
                </a:solidFill>
                <a:latin typeface="Calibri"/>
              </a:rPr>
              <a:t>   Non-blocking I/O, EventLoop, 50+ parallel so'rov</a:t>
            </a:r>
          </a:p>
          <a:p>
            <a:pPr>
              <a:spcBef>
                <a:spcPts val="40"/>
              </a:spcBef>
            </a:pPr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▸ </a:t>
            </a:r>
            <a:r>
              <a:rPr lang="uz-UZ" altLang="en-US" sz="1100" b="1" dirty="0">
                <a:solidFill>
                  <a:srgbClr val="FFD700"/>
                </a:solidFill>
                <a:latin typeface="Calibri"/>
              </a:rPr>
              <a:t>Express.js</a:t>
            </a:r>
          </a:p>
          <a:p>
            <a:pPr>
              <a:spcBef>
                <a:spcPts val="20"/>
              </a:spcBef>
            </a:pPr>
            <a:r>
              <a:rPr lang="uz-UZ" altLang="en-US" sz="1000" dirty="0">
                <a:solidFill>
                  <a:srgbClr val="B0C4DE"/>
                </a:solidFill>
                <a:latin typeface="Calibri"/>
              </a:rPr>
              <a:t>   Router-Controller andoza, CORS, middleware</a:t>
            </a:r>
          </a:p>
          <a:p>
            <a:pPr>
              <a:spcBef>
                <a:spcPts val="40"/>
              </a:spcBef>
            </a:pPr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▸ </a:t>
            </a:r>
            <a:r>
              <a:rPr lang="uz-UZ" altLang="en-US" sz="1100" b="1" dirty="0">
                <a:solidFill>
                  <a:srgbClr val="FFD700"/>
                </a:solidFill>
                <a:latin typeface="Calibri"/>
              </a:rPr>
              <a:t>simple-git</a:t>
            </a:r>
          </a:p>
          <a:p>
            <a:pPr>
              <a:spcBef>
                <a:spcPts val="20"/>
              </a:spcBef>
            </a:pPr>
            <a:r>
              <a:rPr lang="uz-UZ" altLang="en-US" sz="1000" dirty="0">
                <a:solidFill>
                  <a:srgbClr val="B0C4DE"/>
                </a:solidFill>
                <a:latin typeface="Calibri"/>
              </a:rPr>
              <a:t>   clone, log, diff, pull — Git operatsiyalari</a:t>
            </a:r>
          </a:p>
          <a:p>
            <a:pPr>
              <a:spcBef>
                <a:spcPts val="40"/>
              </a:spcBef>
            </a:pPr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▸ </a:t>
            </a:r>
            <a:r>
              <a:rPr lang="uz-UZ" altLang="en-US" sz="1100" b="1" dirty="0">
                <a:solidFill>
                  <a:srgbClr val="FFD700"/>
                </a:solidFill>
                <a:latin typeface="Calibri"/>
              </a:rPr>
              <a:t>jsdiff</a:t>
            </a:r>
          </a:p>
          <a:p>
            <a:pPr>
              <a:spcBef>
                <a:spcPts val="20"/>
              </a:spcBef>
            </a:pPr>
            <a:r>
              <a:rPr lang="uz-UZ" altLang="en-US" sz="1000" dirty="0">
                <a:solidFill>
                  <a:srgbClr val="B0C4DE"/>
                </a:solidFill>
                <a:latin typeface="Calibri"/>
              </a:rPr>
              <a:t>   Mayers algoritmi, JSON parsing, structured output</a:t>
            </a:r>
          </a:p>
          <a:p>
            <a:pPr>
              <a:spcBef>
                <a:spcPts val="40"/>
              </a:spcBef>
            </a:pPr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▸ </a:t>
            </a:r>
            <a:r>
              <a:rPr lang="uz-UZ" altLang="en-US" sz="1100" b="1" dirty="0">
                <a:solidFill>
                  <a:srgbClr val="FFD700"/>
                </a:solidFill>
                <a:latin typeface="Calibri"/>
              </a:rPr>
              <a:t>Gemini SDK</a:t>
            </a:r>
          </a:p>
          <a:p>
            <a:pPr>
              <a:spcBef>
                <a:spcPts val="20"/>
              </a:spcBef>
            </a:pPr>
            <a:r>
              <a:rPr lang="uz-UZ" altLang="en-US" sz="1000" dirty="0">
                <a:solidFill>
                  <a:srgbClr val="B0C4DE"/>
                </a:solidFill>
                <a:latin typeface="Calibri"/>
              </a:rPr>
              <a:t>   @google/generative-ai, Prompt injection</a:t>
            </a:r>
          </a:p>
          <a:p>
            <a:pPr>
              <a:spcBef>
                <a:spcPts val="40"/>
              </a:spcBef>
            </a:pPr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▸ </a:t>
            </a:r>
            <a:r>
              <a:rPr lang="uz-UZ" altLang="en-US" sz="1100" b="1" dirty="0">
                <a:solidFill>
                  <a:srgbClr val="FFD700"/>
                </a:solidFill>
                <a:latin typeface="Calibri"/>
              </a:rPr>
              <a:t>dotenv</a:t>
            </a:r>
          </a:p>
          <a:p>
            <a:pPr>
              <a:spcBef>
                <a:spcPts val="20"/>
              </a:spcBef>
            </a:pPr>
            <a:r>
              <a:rPr lang="uz-UZ" altLang="en-US" sz="1000" dirty="0">
                <a:solidFill>
                  <a:srgbClr val="B0C4DE"/>
                </a:solidFill>
                <a:latin typeface="Calibri"/>
              </a:rPr>
              <a:t>   API kalitlar muhit o'zgaruvchilari</a:t>
            </a:r>
          </a:p>
          <a:p>
            <a:pPr>
              <a:spcBef>
                <a:spcPts val="40"/>
              </a:spcBef>
            </a:pPr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▸ </a:t>
            </a:r>
            <a:r>
              <a:rPr lang="uz-UZ" altLang="en-US" sz="1100" b="1" dirty="0">
                <a:solidFill>
                  <a:srgbClr val="FFD700"/>
                </a:solidFill>
                <a:latin typeface="Calibri"/>
              </a:rPr>
              <a:t>cors</a:t>
            </a:r>
          </a:p>
          <a:p>
            <a:pPr>
              <a:spcBef>
                <a:spcPts val="20"/>
              </a:spcBef>
            </a:pPr>
            <a:r>
              <a:rPr lang="uz-UZ" altLang="en-US" sz="1000" dirty="0">
                <a:solidFill>
                  <a:srgbClr val="B0C4DE"/>
                </a:solidFill>
                <a:latin typeface="Calibri"/>
              </a:rPr>
              <a:t>   Cross-Origin xavfsizlik protokoli</a:t>
            </a:r>
          </a:p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6120000" y="1116000"/>
            <a:ext cx="5868000" cy="5472000"/>
          </a:xfrm>
          <a:prstGeom prst="roundRect">
            <a:avLst>
              <a:gd name="adj" fmla="val 8000"/>
            </a:avLst>
          </a:prstGeom>
          <a:solidFill>
            <a:srgbClr val="081424">
              <a:alpha val="8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6120000" y="1116000"/>
            <a:ext cx="5868000" cy="180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6120000" y="6570000"/>
            <a:ext cx="5868000" cy="180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6120000" y="1116000"/>
            <a:ext cx="18000" cy="54720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1970000" y="1116000"/>
            <a:ext cx="18000" cy="54720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6120000" y="1116000"/>
            <a:ext cx="5868000" cy="306000"/>
          </a:xfrm>
          <a:prstGeom prst="rect">
            <a:avLst/>
          </a:prstGeom>
          <a:solidFill>
            <a:srgbClr val="00C6FF">
              <a:alpha val="3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6120000" y="1116000"/>
            <a:ext cx="5868000" cy="306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/>
            <a:r>
              <a:rPr lang="uz-UZ" altLang="en-US" sz="1000" b="1" dirty="0">
                <a:solidFill>
                  <a:srgbClr val="FFFFFF"/>
                </a:solidFill>
                <a:latin typeface="Calibri"/>
              </a:rPr>
              <a:t>  Asosiy funksionallik</a:t>
            </a:r>
          </a:p>
        </p:txBody>
      </p:sp>
      <p:sp>
        <p:nvSpPr>
          <p:cNvPr id="1" name="tb"/>
          <p:cNvSpPr txBox="1"/>
          <p:nvPr/>
        </p:nvSpPr>
        <p:spPr>
          <a:xfrm>
            <a:off x="6228000" y="1475999"/>
            <a:ext cx="5652000" cy="4968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>
              <a:spcBef>
                <a:spcPts val="45"/>
              </a:spcBef>
            </a:pPr>
            <a:r>
              <a:rPr lang="uz-UZ" altLang="en-US" sz="1100" dirty="0">
                <a:solidFill>
                  <a:srgbClr val="00E676"/>
                </a:solidFill>
                <a:latin typeface="Calibri"/>
              </a:rPr>
              <a:t>✅ </a:t>
            </a:r>
            <a:r>
              <a:rPr lang="uz-UZ" altLang="en-US" sz="1100" b="1" dirty="0">
                <a:solidFill>
                  <a:srgbClr val="FFFFFF"/>
                </a:solidFill>
                <a:latin typeface="Calibri"/>
              </a:rPr>
              <a:t>Klonlash optimizatsiyasi:</a:t>
            </a:r>
          </a:p>
          <a:p>
            <a:pPr>
              <a:spcBef>
                <a:spcPts val="20"/>
              </a:spcBef>
            </a:pPr>
            <a:r>
              <a:rPr lang="uz-UZ" altLang="en-US" sz="1000" dirty="0">
                <a:solidFill>
                  <a:srgbClr val="B0C4DE"/>
                </a:solidFill>
                <a:latin typeface="Calibri"/>
              </a:rPr>
              <a:t>   Repo mavjud bo'lsa pull, yo'q bo'lsa clone</a:t>
            </a:r>
          </a:p>
          <a:p>
            <a:pPr>
              <a:spcBef>
                <a:spcPts val="45"/>
              </a:spcBef>
            </a:pPr>
            <a:r>
              <a:rPr lang="uz-UZ" altLang="en-US" sz="1100" dirty="0">
                <a:solidFill>
                  <a:srgbClr val="00E676"/>
                </a:solidFill>
                <a:latin typeface="Calibri"/>
              </a:rPr>
              <a:t>✅ </a:t>
            </a:r>
            <a:r>
              <a:rPr lang="uz-UZ" altLang="en-US" sz="1100" b="1" dirty="0">
                <a:solidFill>
                  <a:srgbClr val="FFFFFF"/>
                </a:solidFill>
                <a:latin typeface="Calibri"/>
              </a:rPr>
              <a:t>Kesh mexanizmi:</a:t>
            </a:r>
          </a:p>
          <a:p>
            <a:pPr>
              <a:spcBef>
                <a:spcPts val="20"/>
              </a:spcBef>
            </a:pPr>
            <a:r>
              <a:rPr lang="uz-UZ" altLang="en-US" sz="1000" dirty="0">
                <a:solidFill>
                  <a:srgbClr val="B0C4DE"/>
                </a:solidFill>
                <a:latin typeface="Calibri"/>
              </a:rPr>
              <a:t>   Lokal disk — qayta so'rovda internet yo'q</a:t>
            </a:r>
          </a:p>
          <a:p>
            <a:pPr>
              <a:spcBef>
                <a:spcPts val="45"/>
              </a:spcBef>
            </a:pPr>
            <a:r>
              <a:rPr lang="uz-UZ" altLang="en-US" sz="1100" dirty="0">
                <a:solidFill>
                  <a:srgbClr val="00E676"/>
                </a:solidFill>
                <a:latin typeface="Calibri"/>
              </a:rPr>
              <a:t>✅ </a:t>
            </a:r>
            <a:r>
              <a:rPr lang="uz-UZ" altLang="en-US" sz="1100" b="1" dirty="0">
                <a:solidFill>
                  <a:srgbClr val="FFFFFF"/>
                </a:solidFill>
                <a:latin typeface="Calibri"/>
              </a:rPr>
              <a:t>Error Handling:</a:t>
            </a:r>
          </a:p>
          <a:p>
            <a:pPr>
              <a:spcBef>
                <a:spcPts val="20"/>
              </a:spcBef>
            </a:pPr>
            <a:r>
              <a:rPr lang="uz-UZ" altLang="en-US" sz="1000" dirty="0">
                <a:solidFill>
                  <a:srgbClr val="B0C4DE"/>
                </a:solidFill>
                <a:latin typeface="Calibri"/>
              </a:rPr>
              <a:t>   try/catch + Global Middleware, HTTP 400/404/500</a:t>
            </a:r>
          </a:p>
          <a:p>
            <a:pPr>
              <a:spcBef>
                <a:spcPts val="45"/>
              </a:spcBef>
            </a:pPr>
            <a:r>
              <a:rPr lang="uz-UZ" altLang="en-US" sz="1100" dirty="0">
                <a:solidFill>
                  <a:srgbClr val="00E676"/>
                </a:solidFill>
                <a:latin typeface="Calibri"/>
              </a:rPr>
              <a:t>✅ </a:t>
            </a:r>
            <a:r>
              <a:rPr lang="uz-UZ" altLang="en-US" sz="1100" b="1" dirty="0">
                <a:solidFill>
                  <a:srgbClr val="FFFFFF"/>
                </a:solidFill>
                <a:latin typeface="Calibri"/>
              </a:rPr>
              <a:t>URL validatsiya:</a:t>
            </a:r>
          </a:p>
          <a:p>
            <a:pPr>
              <a:spcBef>
                <a:spcPts val="20"/>
              </a:spcBef>
            </a:pPr>
            <a:r>
              <a:rPr lang="uz-UZ" altLang="en-US" sz="1000" dirty="0">
                <a:solidFill>
                  <a:srgbClr val="B0C4DE"/>
                </a:solidFill>
                <a:latin typeface="Calibri"/>
              </a:rPr>
              <a:t>   Regex sanitizatsiya, XSS himoya</a:t>
            </a:r>
          </a:p>
          <a:p>
            <a:pPr>
              <a:spcBef>
                <a:spcPts val="45"/>
              </a:spcBef>
            </a:pPr>
            <a:r>
              <a:rPr lang="uz-UZ" altLang="en-US" sz="1100" dirty="0">
                <a:solidFill>
                  <a:srgbClr val="00E676"/>
                </a:solidFill>
                <a:latin typeface="Calibri"/>
              </a:rPr>
              <a:t>✅ </a:t>
            </a:r>
            <a:r>
              <a:rPr lang="uz-UZ" altLang="en-US" sz="1100" b="1" dirty="0">
                <a:solidFill>
                  <a:srgbClr val="FFFFFF"/>
                </a:solidFill>
                <a:latin typeface="Calibri"/>
              </a:rPr>
              <a:t>Diff parsing:</a:t>
            </a:r>
          </a:p>
          <a:p>
            <a:pPr>
              <a:spcBef>
                <a:spcPts val="20"/>
              </a:spcBef>
            </a:pPr>
            <a:r>
              <a:rPr lang="uz-UZ" altLang="en-US" sz="1000" dirty="0">
                <a:solidFill>
                  <a:srgbClr val="B0C4DE"/>
                </a:solidFill>
                <a:latin typeface="Calibri"/>
              </a:rPr>
              <a:t>   Raw patch → JSON massiv → Frontend</a:t>
            </a:r>
          </a:p>
          <a:p>
            <a:pPr>
              <a:spcBef>
                <a:spcPts val="45"/>
              </a:spcBef>
            </a:pPr>
            <a:r>
              <a:rPr lang="uz-UZ" altLang="en-US" sz="1100" dirty="0">
                <a:solidFill>
                  <a:srgbClr val="00E676"/>
                </a:solidFill>
                <a:latin typeface="Calibri"/>
              </a:rPr>
              <a:t>✅ </a:t>
            </a:r>
            <a:r>
              <a:rPr lang="uz-UZ" altLang="en-US" sz="1100" b="1" dirty="0">
                <a:solidFill>
                  <a:srgbClr val="FFFFFF"/>
                </a:solidFill>
                <a:latin typeface="Calibri"/>
              </a:rPr>
              <a:t>Prompt injection:</a:t>
            </a:r>
          </a:p>
          <a:p>
            <a:pPr>
              <a:spcBef>
                <a:spcPts val="20"/>
              </a:spcBef>
            </a:pPr>
            <a:r>
              <a:rPr lang="uz-UZ" altLang="en-US" sz="1000" dirty="0">
                <a:solidFill>
                  <a:srgbClr val="B0C4DE"/>
                </a:solidFill>
                <a:latin typeface="Calibri"/>
              </a:rPr>
              <a:t>   3 qatlamli prompt + o'zbek tili talabi</a:t>
            </a:r>
          </a:p>
        </p:txBody>
      </p:sp>
    </p:spTree>
  </p:cSld>
  <p:clrMapOvr>
    <a:masterClr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F2547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1007999"/>
          </a:xfrm>
          <a:prstGeom prst="rect">
            <a:avLst/>
          </a:prstGeom>
          <a:solidFill>
            <a:srgbClr val="081424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972000"/>
            <a:ext cx="12193200" cy="432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44000" y="125999"/>
            <a:ext cx="100800" cy="7560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360000" y="108000"/>
            <a:ext cx="11340000" cy="792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/>
            <a:r>
              <a:rPr lang="uz-UZ" altLang="en-US" sz="2100" b="1" dirty="0">
                <a:solidFill>
                  <a:srgbClr val="FFFFFF"/>
                </a:solidFill>
                <a:latin typeface="Calibri"/>
              </a:rPr>
              <a:t>3.2 — React SPA va AI Semantik Hisobot</a:t>
            </a:r>
          </a:p>
        </p:txBody>
      </p:sp>
      <p:sp>
        <p:nvSpPr>
          <p:cNvPr id="1" name="tb"/>
          <p:cNvSpPr txBox="1"/>
          <p:nvPr/>
        </p:nvSpPr>
        <p:spPr>
          <a:xfrm>
            <a:off x="11520000" y="6408000"/>
            <a:ext cx="540000" cy="324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algn="r"/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12</a:t>
            </a:r>
          </a:p>
        </p:txBody>
      </p:sp>
      <p:pic>
        <p:nvPicPr>
          <p:cNvPr id="10" name="img"/>
          <p:cNvPicPr/>
          <p:nvPr/>
        </p:nvPicPr>
        <p:blipFill>
          <a:blip r:embed="rId10"/>
          <a:stretch>
            <a:fillRect/>
          </a:stretch>
        </p:blipFill>
        <p:spPr>
          <a:xfrm>
            <a:off x="144000" y="1044000"/>
            <a:ext cx="7380000" cy="4860000"/>
          </a:xfrm>
          <a:prstGeom prst="rect">
            <a:avLst/>
          </a:prstGeom>
        </p:spPr>
      </p:pic>
      <p:sp>
        <p:nvSpPr>
          <p:cNvPr id="2" name="r"/>
          <p:cNvSpPr>
            <a:spLocks noGrp="1"/>
          </p:cNvSpPr>
          <p:nvPr/>
        </p:nvSpPr>
        <p:spPr>
          <a:xfrm>
            <a:off x="144000" y="1044000"/>
            <a:ext cx="7380000" cy="252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44000" y="5878799"/>
            <a:ext cx="7380000" cy="252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44000" y="1044000"/>
            <a:ext cx="25200" cy="48600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7498799" y="1044000"/>
            <a:ext cx="25200" cy="48600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44000" y="5922000"/>
            <a:ext cx="7380000" cy="251999"/>
          </a:xfrm>
          <a:prstGeom prst="rect">
            <a:avLst/>
          </a:prstGeom>
          <a:solidFill>
            <a:srgbClr val="081424">
              <a:alpha val="9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144000" y="5932800"/>
            <a:ext cx="7380000" cy="234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/>
            <a:r>
              <a:rPr lang="uz-UZ" altLang="en-US" sz="900" dirty="0">
                <a:solidFill>
                  <a:srgbClr val="00C6FF"/>
                </a:solidFill>
                <a:latin typeface="Calibri"/>
              </a:rPr>
              <a:t>  📸  AI Semantik Hisobot — Google Gemini natijasi</a:t>
            </a:r>
          </a:p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7703999" y="1044000"/>
            <a:ext cx="4320000" cy="4860000"/>
          </a:xfrm>
          <a:prstGeom prst="roundRect">
            <a:avLst>
              <a:gd name="adj" fmla="val 8000"/>
            </a:avLst>
          </a:prstGeom>
          <a:solidFill>
            <a:srgbClr val="081424">
              <a:alpha val="8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7703999" y="1044000"/>
            <a:ext cx="4320000" cy="180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7703999" y="5885999"/>
            <a:ext cx="4320000" cy="180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7703999" y="1044000"/>
            <a:ext cx="18000" cy="48600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2006000" y="1044000"/>
            <a:ext cx="18000" cy="48600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7703999" y="1044000"/>
            <a:ext cx="4320000" cy="306000"/>
          </a:xfrm>
          <a:prstGeom prst="rect">
            <a:avLst/>
          </a:prstGeom>
          <a:solidFill>
            <a:srgbClr val="7B2FBE">
              <a:alpha val="4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7703999" y="1044000"/>
            <a:ext cx="4320000" cy="306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/>
            <a:r>
              <a:rPr lang="uz-UZ" altLang="en-US" sz="1000" b="1" dirty="0">
                <a:solidFill>
                  <a:srgbClr val="FFFFFF"/>
                </a:solidFill>
                <a:latin typeface="Calibri"/>
              </a:rPr>
              <a:t>  React SPA va AI</a:t>
            </a:r>
          </a:p>
        </p:txBody>
      </p:sp>
      <p:sp>
        <p:nvSpPr>
          <p:cNvPr id="1" name="tb"/>
          <p:cNvSpPr txBox="1"/>
          <p:nvPr/>
        </p:nvSpPr>
        <p:spPr>
          <a:xfrm>
            <a:off x="7776000" y="1404000"/>
            <a:ext cx="4140000" cy="432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>
              <a:spcBef>
                <a:spcPts val="30"/>
              </a:spcBef>
            </a:pPr>
            <a:r>
              <a:rPr lang="uz-UZ" altLang="en-US" sz="1100" b="1" dirty="0">
                <a:solidFill>
                  <a:srgbClr val="FFD700"/>
                </a:solidFill>
                <a:latin typeface="Calibri"/>
              </a:rPr>
              <a:t>React SPA:</a:t>
            </a:r>
          </a:p>
          <a:p>
            <a:pPr>
              <a:spcBef>
                <a:spcPts val="22"/>
              </a:spcBef>
            </a:pPr>
            <a:r>
              <a:rPr lang="uz-UZ" altLang="en-US" sz="1100" dirty="0">
                <a:solidFill>
                  <a:srgbClr val="FFFFFF"/>
                </a:solidFill>
                <a:latin typeface="Calibri"/>
              </a:rPr>
              <a:t>  useState + useEffect holat boshqaruvi</a:t>
            </a:r>
          </a:p>
          <a:p>
            <a:pPr>
              <a:spcBef>
                <a:spcPts val="22"/>
              </a:spcBef>
            </a:pPr>
            <a:r>
              <a:rPr lang="uz-UZ" altLang="en-US" sz="1100" dirty="0">
                <a:solidFill>
                  <a:srgbClr val="FFFFFF"/>
                </a:solidFill>
                <a:latin typeface="Calibri"/>
              </a:rPr>
              <a:t>  Virtual DOM — faqat o'zgargan qayta chizish</a:t>
            </a:r>
          </a:p>
          <a:p>
            <a:pPr>
              <a:spcBef>
                <a:spcPts val="22"/>
              </a:spcBef>
            </a:pPr>
            <a:r>
              <a:rPr lang="uz-UZ" altLang="en-US" sz="1100" dirty="0">
                <a:solidFill>
                  <a:srgbClr val="FFFFFF"/>
                </a:solidFill>
                <a:latin typeface="Calibri"/>
              </a:rPr>
              <a:t>  history.pushState — URL dinamik</a:t>
            </a:r>
          </a:p>
          <a:p>
            <a:pPr>
              <a:spcBef>
                <a:spcPts val="8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30"/>
              </a:spcBef>
            </a:pPr>
            <a:r>
              <a:rPr lang="uz-UZ" altLang="en-US" sz="1100" b="1" dirty="0">
                <a:solidFill>
                  <a:srgbClr val="FFD700"/>
                </a:solidFill>
                <a:latin typeface="Calibri"/>
              </a:rPr>
              <a:t>AI Hisobot qismlari:</a:t>
            </a:r>
          </a:p>
          <a:p>
            <a:pPr>
              <a:spcBef>
                <a:spcPts val="22"/>
              </a:spcBef>
            </a:pPr>
            <a:r>
              <a:rPr lang="uz-UZ" altLang="en-US" sz="1100" dirty="0">
                <a:solidFill>
                  <a:srgbClr val="FFFFFF"/>
                </a:solidFill>
                <a:latin typeface="Calibri"/>
              </a:rPr>
              <a:t>  Sintaktik o'zgarishlar tavsifi</a:t>
            </a:r>
          </a:p>
          <a:p>
            <a:pPr>
              <a:spcBef>
                <a:spcPts val="22"/>
              </a:spcBef>
            </a:pPr>
            <a:r>
              <a:rPr lang="uz-UZ" altLang="en-US" sz="1100" dirty="0">
                <a:solidFill>
                  <a:srgbClr val="FFFFFF"/>
                </a:solidFill>
                <a:latin typeface="Calibri"/>
              </a:rPr>
              <a:t>  Biznes/xavfsizlik mantiqi tahlili</a:t>
            </a:r>
          </a:p>
          <a:p>
            <a:pPr>
              <a:spcBef>
                <a:spcPts val="22"/>
              </a:spcBef>
            </a:pPr>
            <a:r>
              <a:rPr lang="uz-UZ" altLang="en-US" sz="1100" dirty="0">
                <a:solidFill>
                  <a:srgbClr val="FFFFFF"/>
                </a:solidFill>
                <a:latin typeface="Calibri"/>
              </a:rPr>
              <a:t>  Auto-fix tayyor kod namunalari</a:t>
            </a:r>
          </a:p>
          <a:p>
            <a:pPr>
              <a:spcBef>
                <a:spcPts val="22"/>
              </a:spcBef>
            </a:pPr>
            <a:r>
              <a:rPr lang="uz-UZ" altLang="en-US" sz="1100" dirty="0">
                <a:solidFill>
                  <a:srgbClr val="FFFFFF"/>
                </a:solidFill>
                <a:latin typeface="Calibri"/>
              </a:rPr>
              <a:t>  Markdown formatida render</a:t>
            </a:r>
          </a:p>
          <a:p>
            <a:pPr>
              <a:spcBef>
                <a:spcPts val="8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30"/>
              </a:spcBef>
            </a:pPr>
            <a:r>
              <a:rPr lang="uz-UZ" altLang="en-US" sz="1100" b="1" dirty="0">
                <a:solidFill>
                  <a:srgbClr val="FFD700"/>
                </a:solidFill>
                <a:latin typeface="Calibri"/>
              </a:rPr>
              <a:t>Hallucination himoya:</a:t>
            </a:r>
          </a:p>
          <a:p>
            <a:pPr>
              <a:spcBef>
                <a:spcPts val="22"/>
              </a:spcBef>
            </a:pPr>
            <a:r>
              <a:rPr lang="uz-UZ" altLang="en-US" sz="1100" dirty="0">
                <a:solidFill>
                  <a:srgbClr val="FFFFFF"/>
                </a:solidFill>
                <a:latin typeface="Calibri"/>
              </a:rPr>
              <a:t>  Faqat berilgan diff asosida</a:t>
            </a:r>
          </a:p>
          <a:p>
            <a:pPr>
              <a:spcBef>
                <a:spcPts val="22"/>
              </a:spcBef>
            </a:pPr>
            <a:r>
              <a:rPr lang="uz-UZ" altLang="en-US" sz="1100" dirty="0">
                <a:solidFill>
                  <a:srgbClr val="FFFFFF"/>
                </a:solidFill>
                <a:latin typeface="Calibri"/>
              </a:rPr>
              <a:t>  Tashqi manbaga tayanmaslik</a:t>
            </a:r>
          </a:p>
          <a:p>
            <a:pPr>
              <a:spcBef>
                <a:spcPts val="8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30"/>
              </a:spcBef>
            </a:pPr>
            <a:r>
              <a:rPr lang="uz-UZ" altLang="en-US" sz="1100" b="1" dirty="0">
                <a:solidFill>
                  <a:srgbClr val="FFD700"/>
                </a:solidFill>
                <a:latin typeface="Calibri"/>
              </a:rPr>
              <a:t>Natija:</a:t>
            </a:r>
          </a:p>
          <a:p>
            <a:pPr>
              <a:spcBef>
                <a:spcPts val="22"/>
              </a:spcBef>
            </a:pPr>
            <a:r>
              <a:rPr lang="uz-UZ" altLang="en-US" sz="1100" dirty="0">
                <a:solidFill>
                  <a:srgbClr val="FFFFFF"/>
                </a:solidFill>
                <a:latin typeface="Calibri"/>
              </a:rPr>
              <a:t>  O'zbek tilida professional hisobot</a:t>
            </a:r>
          </a:p>
        </p:txBody>
      </p:sp>
    </p:spTree>
  </p:cSld>
  <p:clrMapOvr>
    <a:masterClr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F2547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1007999"/>
          </a:xfrm>
          <a:prstGeom prst="rect">
            <a:avLst/>
          </a:prstGeom>
          <a:solidFill>
            <a:srgbClr val="081424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972000"/>
            <a:ext cx="12193200" cy="432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44000" y="125999"/>
            <a:ext cx="100800" cy="7560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360000" y="108000"/>
            <a:ext cx="11340000" cy="792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/>
            <a:r>
              <a:rPr lang="uz-UZ" altLang="en-US" sz="2100" b="1" dirty="0">
                <a:solidFill>
                  <a:srgbClr val="FFFFFF"/>
                </a:solidFill>
                <a:latin typeface="Calibri"/>
              </a:rPr>
              <a:t>3.3 — Sinov Natijalari va Dashboard</a:t>
            </a:r>
          </a:p>
        </p:txBody>
      </p:sp>
      <p:sp>
        <p:nvSpPr>
          <p:cNvPr id="1" name="tb"/>
          <p:cNvSpPr txBox="1"/>
          <p:nvPr/>
        </p:nvSpPr>
        <p:spPr>
          <a:xfrm>
            <a:off x="11520000" y="6408000"/>
            <a:ext cx="540000" cy="324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algn="r"/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13</a:t>
            </a:r>
          </a:p>
        </p:txBody>
      </p:sp>
      <p:pic>
        <p:nvPicPr>
          <p:cNvPr id="10" name="img"/>
          <p:cNvPicPr/>
          <p:nvPr/>
        </p:nvPicPr>
        <p:blipFill>
          <a:blip r:embed="rId11"/>
          <a:stretch>
            <a:fillRect/>
          </a:stretch>
        </p:blipFill>
        <p:spPr>
          <a:xfrm>
            <a:off x="144000" y="1044000"/>
            <a:ext cx="7380000" cy="4860000"/>
          </a:xfrm>
          <a:prstGeom prst="rect">
            <a:avLst/>
          </a:prstGeom>
        </p:spPr>
      </p:pic>
      <p:sp>
        <p:nvSpPr>
          <p:cNvPr id="2" name="r"/>
          <p:cNvSpPr>
            <a:spLocks noGrp="1"/>
          </p:cNvSpPr>
          <p:nvPr/>
        </p:nvSpPr>
        <p:spPr>
          <a:xfrm>
            <a:off x="144000" y="1044000"/>
            <a:ext cx="7380000" cy="252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44000" y="5878799"/>
            <a:ext cx="7380000" cy="252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44000" y="1044000"/>
            <a:ext cx="25200" cy="48600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7498799" y="1044000"/>
            <a:ext cx="25200" cy="48600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44000" y="5922000"/>
            <a:ext cx="7380000" cy="251999"/>
          </a:xfrm>
          <a:prstGeom prst="rect">
            <a:avLst/>
          </a:prstGeom>
          <a:solidFill>
            <a:srgbClr val="081424">
              <a:alpha val="9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144000" y="5932800"/>
            <a:ext cx="7380000" cy="234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/>
            <a:r>
              <a:rPr lang="uz-UZ" altLang="en-US" sz="900" dirty="0">
                <a:solidFill>
                  <a:srgbClr val="00C6FF"/>
                </a:solidFill>
                <a:latin typeface="Calibri"/>
              </a:rPr>
              <a:t>  📸  Dashboard — Loyiha analitikasi va monitoring</a:t>
            </a:r>
          </a:p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7703999" y="1044000"/>
            <a:ext cx="4320000" cy="4860000"/>
          </a:xfrm>
          <a:prstGeom prst="roundRect">
            <a:avLst>
              <a:gd name="adj" fmla="val 8000"/>
            </a:avLst>
          </a:prstGeom>
          <a:solidFill>
            <a:srgbClr val="081424">
              <a:alpha val="8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7703999" y="1044000"/>
            <a:ext cx="4320000" cy="180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7703999" y="5885999"/>
            <a:ext cx="4320000" cy="180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7703999" y="1044000"/>
            <a:ext cx="18000" cy="48600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2006000" y="1044000"/>
            <a:ext cx="18000" cy="48600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7703999" y="1044000"/>
            <a:ext cx="4320000" cy="306000"/>
          </a:xfrm>
          <a:prstGeom prst="rect">
            <a:avLst/>
          </a:prstGeom>
          <a:solidFill>
            <a:srgbClr val="7B2FBE">
              <a:alpha val="4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7703999" y="1044000"/>
            <a:ext cx="4320000" cy="306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/>
            <a:r>
              <a:rPr lang="uz-UZ" altLang="en-US" sz="1000" b="1" dirty="0">
                <a:solidFill>
                  <a:srgbClr val="FFFFFF"/>
                </a:solidFill>
                <a:latin typeface="Calibri"/>
              </a:rPr>
              <a:t>  Sinov va Dashboard</a:t>
            </a:r>
          </a:p>
        </p:txBody>
      </p:sp>
      <p:sp>
        <p:nvSpPr>
          <p:cNvPr id="1" name="tb"/>
          <p:cNvSpPr txBox="1"/>
          <p:nvPr/>
        </p:nvSpPr>
        <p:spPr>
          <a:xfrm>
            <a:off x="7776000" y="1404000"/>
            <a:ext cx="4140000" cy="432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>
              <a:spcBef>
                <a:spcPts val="30"/>
              </a:spcBef>
            </a:pPr>
            <a:r>
              <a:rPr lang="uz-UZ" altLang="en-US" sz="1100" b="1" dirty="0">
                <a:solidFill>
                  <a:srgbClr val="FFD700"/>
                </a:solidFill>
                <a:latin typeface="Calibri"/>
              </a:rPr>
              <a:t>Sinov natijalari:</a:t>
            </a:r>
          </a:p>
          <a:p>
            <a:pPr>
              <a:spcBef>
                <a:spcPts val="22"/>
              </a:spcBef>
            </a:pPr>
            <a:r>
              <a:rPr lang="uz-UZ" altLang="en-US" sz="1100" dirty="0">
                <a:solidFill>
                  <a:srgbClr val="FFFFFF"/>
                </a:solidFill>
                <a:latin typeface="Calibri"/>
              </a:rPr>
              <a:t>  ✅ Barcha 5 modul ishladi</a:t>
            </a:r>
          </a:p>
          <a:p>
            <a:pPr>
              <a:spcBef>
                <a:spcPts val="22"/>
              </a:spcBef>
            </a:pPr>
            <a:r>
              <a:rPr lang="uz-UZ" altLang="en-US" sz="1100" dirty="0">
                <a:solidFill>
                  <a:srgbClr val="FFFFFF"/>
                </a:solidFill>
                <a:latin typeface="Calibri"/>
              </a:rPr>
              <a:t>  ✅ O'zbek tili — professional hisobot</a:t>
            </a:r>
          </a:p>
          <a:p>
            <a:pPr>
              <a:spcBef>
                <a:spcPts val="22"/>
              </a:spcBef>
            </a:pPr>
            <a:r>
              <a:rPr lang="uz-UZ" altLang="en-US" sz="1100" dirty="0">
                <a:solidFill>
                  <a:srgbClr val="FFFFFF"/>
                </a:solidFill>
                <a:latin typeface="Calibri"/>
              </a:rPr>
              <a:t>  ✅ Xavfsizlik kamchiliklari aniqlandi</a:t>
            </a:r>
          </a:p>
          <a:p>
            <a:pPr>
              <a:spcBef>
                <a:spcPts val="22"/>
              </a:spcBef>
            </a:pPr>
            <a:r>
              <a:rPr lang="uz-UZ" altLang="en-US" sz="1100" dirty="0">
                <a:solidFill>
                  <a:srgbClr val="FFFFFF"/>
                </a:solidFill>
                <a:latin typeface="Calibri"/>
              </a:rPr>
              <a:t>  ✅ Auto-fix kod namunalari berildi</a:t>
            </a:r>
          </a:p>
          <a:p>
            <a:pPr>
              <a:spcBef>
                <a:spcPts val="8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30"/>
              </a:spcBef>
            </a:pPr>
            <a:r>
              <a:rPr lang="uz-UZ" altLang="en-US" sz="1100" b="1" dirty="0">
                <a:solidFill>
                  <a:srgbClr val="FFD700"/>
                </a:solidFill>
                <a:latin typeface="Calibri"/>
              </a:rPr>
              <a:t>O'lchovli natijalar:</a:t>
            </a:r>
          </a:p>
          <a:p>
            <a:pPr>
              <a:spcBef>
                <a:spcPts val="22"/>
              </a:spcBef>
            </a:pPr>
            <a:r>
              <a:rPr lang="uz-UZ" altLang="en-US" sz="1100" dirty="0">
                <a:solidFill>
                  <a:srgbClr val="FFFFFF"/>
                </a:solidFill>
                <a:latin typeface="Calibri"/>
              </a:rPr>
              <a:t>  Code Review 40-50% tezlashdi</a:t>
            </a:r>
          </a:p>
          <a:p>
            <a:pPr>
              <a:spcBef>
                <a:spcPts val="22"/>
              </a:spcBef>
            </a:pPr>
            <a:r>
              <a:rPr lang="uz-UZ" altLang="en-US" sz="1100" dirty="0">
                <a:solidFill>
                  <a:srgbClr val="FFFFFF"/>
                </a:solidFill>
                <a:latin typeface="Calibri"/>
              </a:rPr>
              <a:t>  Hallucination kamaytirish ishladi</a:t>
            </a:r>
          </a:p>
          <a:p>
            <a:pPr>
              <a:spcBef>
                <a:spcPts val="8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30"/>
              </a:spcBef>
            </a:pPr>
            <a:r>
              <a:rPr lang="uz-UZ" altLang="en-US" sz="1100" b="1" dirty="0">
                <a:solidFill>
                  <a:srgbClr val="FFD700"/>
                </a:solidFill>
                <a:latin typeface="Calibri"/>
              </a:rPr>
              <a:t>Dashboard funksiyalari:</a:t>
            </a:r>
          </a:p>
          <a:p>
            <a:pPr>
              <a:spcBef>
                <a:spcPts val="22"/>
              </a:spcBef>
            </a:pPr>
            <a:r>
              <a:rPr lang="uz-UZ" altLang="en-US" sz="1100" dirty="0">
                <a:solidFill>
                  <a:srgbClr val="FFFFFF"/>
                </a:solidFill>
                <a:latin typeface="Calibri"/>
              </a:rPr>
              <a:t>  Umumiy statistika kartochkalari</a:t>
            </a:r>
          </a:p>
          <a:p>
            <a:pPr>
              <a:spcBef>
                <a:spcPts val="22"/>
              </a:spcBef>
            </a:pPr>
            <a:r>
              <a:rPr lang="uz-UZ" altLang="en-US" sz="1100" dirty="0">
                <a:solidFill>
                  <a:srgbClr val="FFFFFF"/>
                </a:solidFill>
                <a:latin typeface="Calibri"/>
              </a:rPr>
              <a:t>  Top fayllar progress-bar grafigi</a:t>
            </a:r>
          </a:p>
          <a:p>
            <a:pPr>
              <a:spcBef>
                <a:spcPts val="22"/>
              </a:spcBef>
            </a:pPr>
            <a:r>
              <a:rPr lang="uz-UZ" altLang="en-US" sz="1100" dirty="0">
                <a:solidFill>
                  <a:srgbClr val="FFFFFF"/>
                </a:solidFill>
                <a:latin typeface="Calibri"/>
              </a:rPr>
              <a:t>  Dasturchilar reytingi (Leaderboard)</a:t>
            </a:r>
          </a:p>
          <a:p>
            <a:pPr>
              <a:spcBef>
                <a:spcPts val="22"/>
              </a:spcBef>
            </a:pPr>
            <a:r>
              <a:rPr lang="uz-UZ" altLang="en-US" sz="1100" dirty="0">
                <a:solidFill>
                  <a:srgbClr val="FFFFFF"/>
                </a:solidFill>
                <a:latin typeface="Calibri"/>
              </a:rPr>
              <a:t>  Real vaqtda hisoblash</a:t>
            </a:r>
          </a:p>
        </p:txBody>
      </p:sp>
    </p:spTree>
  </p:cSld>
  <p:clrMapOvr>
    <a:masterClr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F2547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1007999"/>
          </a:xfrm>
          <a:prstGeom prst="rect">
            <a:avLst/>
          </a:prstGeom>
          <a:solidFill>
            <a:srgbClr val="081424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972000"/>
            <a:ext cx="12193200" cy="432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44000" y="125999"/>
            <a:ext cx="100800" cy="7560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360000" y="108000"/>
            <a:ext cx="11340000" cy="792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/>
            <a:r>
              <a:rPr lang="uz-UZ" altLang="en-US" sz="2100" b="1" dirty="0">
                <a:solidFill>
                  <a:srgbClr val="FFFFFF"/>
                </a:solidFill>
                <a:latin typeface="Calibri"/>
              </a:rPr>
              <a:t>XULOSA VA TAKLIFLAR</a:t>
            </a:r>
          </a:p>
        </p:txBody>
      </p:sp>
      <p:sp>
        <p:nvSpPr>
          <p:cNvPr id="1" name="tb"/>
          <p:cNvSpPr txBox="1"/>
          <p:nvPr/>
        </p:nvSpPr>
        <p:spPr>
          <a:xfrm>
            <a:off x="11520000" y="6408000"/>
            <a:ext cx="540000" cy="324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algn="r"/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14</a:t>
            </a:r>
          </a:p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44000" y="1116000"/>
            <a:ext cx="11833200" cy="5508000"/>
          </a:xfrm>
          <a:prstGeom prst="roundRect">
            <a:avLst>
              <a:gd name="adj" fmla="val 8000"/>
            </a:avLst>
          </a:prstGeom>
          <a:solidFill>
            <a:srgbClr val="081424">
              <a:alpha val="8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44000" y="1116000"/>
            <a:ext cx="11833200" cy="252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44000" y="6598800"/>
            <a:ext cx="11833200" cy="252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44000" y="1116000"/>
            <a:ext cx="25200" cy="55080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1951999" y="1116000"/>
            <a:ext cx="25200" cy="55080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288000" y="1188000"/>
            <a:ext cx="11520000" cy="5328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>
              <a:spcBef>
                <a:spcPts val="55"/>
              </a:spcBef>
            </a:pPr>
            <a:r>
              <a:rPr lang="uz-UZ" altLang="en-US" sz="1300" b="1" dirty="0">
                <a:solidFill>
                  <a:srgbClr val="FFD700"/>
                </a:solidFill>
                <a:latin typeface="Calibri"/>
              </a:rPr>
              <a:t>Xulosa</a:t>
            </a:r>
          </a:p>
          <a:p>
            <a:pPr>
              <a:spcBef>
                <a:spcPts val="32"/>
              </a:spcBef>
            </a:pPr>
            <a:r>
              <a:rPr lang="uz-UZ" altLang="en-US" sz="1200" dirty="0">
                <a:solidFill>
                  <a:srgbClr val="FFFFFF"/>
                </a:solidFill>
                <a:latin typeface="Calibri"/>
              </a:rPr>
              <a:t>1. An'anaviy Diff vositalari sintaktik darajada qoladi — semantik tahlil uchun AI zarur.</a:t>
            </a:r>
          </a:p>
          <a:p>
            <a:pPr>
              <a:spcBef>
                <a:spcPts val="32"/>
              </a:spcBef>
            </a:pPr>
            <a:r>
              <a:rPr lang="uz-UZ" altLang="en-US" sz="1200" dirty="0">
                <a:solidFill>
                  <a:srgbClr val="FFFFFF"/>
                </a:solidFill>
                <a:latin typeface="Calibri"/>
              </a:rPr>
              <a:t>2. Router-Controller + React SPA arxitekturasi barqarorlik va tezkorlikni ta'minladi.</a:t>
            </a:r>
          </a:p>
          <a:p>
            <a:pPr>
              <a:spcBef>
                <a:spcPts val="32"/>
              </a:spcBef>
            </a:pPr>
            <a:r>
              <a:rPr lang="uz-UZ" altLang="en-US" sz="1200" dirty="0">
                <a:solidFill>
                  <a:srgbClr val="FFFFFF"/>
                </a:solidFill>
                <a:latin typeface="Calibri"/>
              </a:rPr>
              <a:t>3. Gemini 2.5 Flash — o'zbek tilida professional semantik hisobot muvaffaqiyatli ishladi.</a:t>
            </a:r>
          </a:p>
          <a:p>
            <a:pPr>
              <a:spcBef>
                <a:spcPts val="32"/>
              </a:spcBef>
            </a:pPr>
            <a:r>
              <a:rPr lang="uz-UZ" altLang="en-US" sz="1200" dirty="0">
                <a:solidFill>
                  <a:srgbClr val="FFFFFF"/>
                </a:solidFill>
                <a:latin typeface="Calibri"/>
              </a:rPr>
              <a:t>4. Real sinov: Code Review vaqti 40-50% qisqardi, kiberxavfsizlik muammolari aniqland.</a:t>
            </a:r>
          </a:p>
          <a:p>
            <a:pPr>
              <a:spcBef>
                <a:spcPts val="18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55"/>
              </a:spcBef>
            </a:pPr>
            <a:r>
              <a:rPr lang="uz-UZ" altLang="en-US" sz="1300" b="1" dirty="0">
                <a:solidFill>
                  <a:srgbClr val="FFD700"/>
                </a:solidFill>
                <a:latin typeface="Calibri"/>
              </a:rPr>
              <a:t>Takliflar va Istiqbollar</a:t>
            </a:r>
          </a:p>
          <a:p>
            <a:pPr>
              <a:spcBef>
                <a:spcPts val="42"/>
              </a:spcBef>
            </a:pPr>
            <a:r>
              <a:rPr lang="uz-UZ" altLang="en-US" sz="1200" b="1" dirty="0">
                <a:solidFill>
                  <a:srgbClr val="00E676"/>
                </a:solidFill>
                <a:latin typeface="Calibri"/>
              </a:rPr>
              <a:t>🔷 CI/CD Integratsiya — GitHub Actions plagin: har commitda avtomatik AI tahlil</a:t>
            </a:r>
          </a:p>
          <a:p>
            <a:pPr>
              <a:spcBef>
                <a:spcPts val="42"/>
              </a:spcBef>
            </a:pPr>
            <a:r>
              <a:rPr lang="uz-UZ" altLang="en-US" sz="1200" b="1" dirty="0">
                <a:solidFill>
                  <a:srgbClr val="00E676"/>
                </a:solidFill>
                <a:latin typeface="Calibri"/>
              </a:rPr>
              <a:t>🔷 Lokal LLM — Llama-3, CodeLlama: ma'lumotlar maxfiyligi, GDPR muvofiqlik</a:t>
            </a:r>
          </a:p>
          <a:p>
            <a:pPr>
              <a:spcBef>
                <a:spcPts val="42"/>
              </a:spcBef>
            </a:pPr>
            <a:r>
              <a:rPr lang="uz-UZ" altLang="en-US" sz="1200" b="1" dirty="0">
                <a:solidFill>
                  <a:srgbClr val="00E676"/>
                </a:solidFill>
                <a:latin typeface="Calibri"/>
              </a:rPr>
              <a:t>🔷 Shaxsiylashtirilgan Prompt — kompaniya ichki standartlariga moslash</a:t>
            </a:r>
          </a:p>
          <a:p>
            <a:pPr>
              <a:spcBef>
                <a:spcPts val="42"/>
              </a:spcBef>
            </a:pPr>
            <a:r>
              <a:rPr lang="uz-UZ" altLang="en-US" sz="1200" b="1" dirty="0">
                <a:solidFill>
                  <a:srgbClr val="00E676"/>
                </a:solidFill>
                <a:latin typeface="Calibri"/>
              </a:rPr>
              <a:t>🔷 Interaktiv vizualizatsiya — fayllararo bog'liqlik grafigi, arxitektura sxemasi</a:t>
            </a:r>
          </a:p>
          <a:p>
            <a:pPr>
              <a:spcBef>
                <a:spcPts val="42"/>
              </a:spcBef>
            </a:pPr>
            <a:r>
              <a:rPr lang="uz-UZ" altLang="en-US" sz="1200" b="1" dirty="0">
                <a:solidFill>
                  <a:srgbClr val="00E676"/>
                </a:solidFill>
                <a:latin typeface="Calibri"/>
              </a:rPr>
              <a:t>🔷 Ko'p tillik — rus, ingliz, qozoq tillarida semantik hisobotlar</a:t>
            </a:r>
          </a:p>
          <a:p>
            <a:pPr>
              <a:spcBef>
                <a:spcPts val="18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55"/>
              </a:spcBef>
            </a:pPr>
            <a:r>
              <a:rPr lang="uz-UZ" altLang="en-US" sz="1300" b="1" dirty="0">
                <a:solidFill>
                  <a:srgbClr val="FFD700"/>
                </a:solidFill>
                <a:latin typeface="Calibri"/>
              </a:rPr>
              <a:t>Ilmiy yangilik</a:t>
            </a:r>
          </a:p>
          <a:p>
            <a:pPr>
              <a:spcBef>
                <a:spcPts val="32"/>
              </a:spcBef>
            </a:pPr>
            <a:r>
              <a:rPr lang="uz-UZ" altLang="en-US" sz="1200" dirty="0">
                <a:solidFill>
                  <a:srgbClr val="FFFFFF"/>
                </a:solidFill>
                <a:latin typeface="Calibri"/>
              </a:rPr>
              <a:t>Kod o'zgarishlarini LLM yordamida o'ZBEK TILIDA semantik tahlil qilishning</a:t>
            </a:r>
          </a:p>
          <a:p>
            <a:pPr>
              <a:spcBef>
                <a:spcPts val="32"/>
              </a:spcBef>
            </a:pPr>
            <a:r>
              <a:rPr lang="uz-UZ" altLang="en-US" sz="1200" dirty="0">
                <a:solidFill>
                  <a:srgbClr val="FFFFFF"/>
                </a:solidFill>
                <a:latin typeface="Calibri"/>
              </a:rPr>
              <a:t>integratsiyalashgan mantiqiy-arxitekturaviy modeli BIRINCHI MARTA ishlab chiqildi.</a:t>
            </a:r>
          </a:p>
        </p:txBody>
      </p:sp>
    </p:spTree>
  </p:cSld>
  <p:clrMapOvr>
    <a:masterClr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2160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6642000"/>
            <a:ext cx="12193200" cy="2160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080000" y="900000"/>
            <a:ext cx="10033200" cy="5040000"/>
          </a:xfrm>
          <a:prstGeom prst="rect">
            <a:avLst/>
          </a:prstGeom>
          <a:solidFill>
            <a:srgbClr val="0F2547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080000" y="900000"/>
            <a:ext cx="10033200" cy="432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080000" y="5896800"/>
            <a:ext cx="10033200" cy="432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080000" y="900000"/>
            <a:ext cx="10033200" cy="216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080000" y="5918400"/>
            <a:ext cx="10033200" cy="216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080000" y="900000"/>
            <a:ext cx="21600" cy="50400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1091600" y="900000"/>
            <a:ext cx="21600" cy="50400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1080000" y="1080000"/>
            <a:ext cx="10033200" cy="9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algn="ctr"/>
            <a:r>
              <a:rPr lang="uz-UZ" altLang="en-US" sz="2600" b="1" dirty="0">
                <a:solidFill>
                  <a:srgbClr val="00C6FF"/>
                </a:solidFill>
                <a:latin typeface="Calibri"/>
              </a:rPr>
              <a:t>🎓  E'tiboringiz uchun</a:t>
            </a:r>
          </a:p>
          <a:p>
            <a:pPr algn="ctr"/>
            <a:r>
              <a:rPr lang="uz-UZ" altLang="en-US" sz="3600" b="1" dirty="0">
                <a:solidFill>
                  <a:srgbClr val="FFFFFF"/>
                </a:solidFill>
                <a:latin typeface="Calibri"/>
              </a:rPr>
              <a:t>RAHMAT!</a:t>
            </a:r>
          </a:p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2520000" y="2232000"/>
            <a:ext cx="7200000" cy="360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1080000" y="2412000"/>
            <a:ext cx="10033200" cy="324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algn="ctr">
              <a:spcBef>
                <a:spcPts val="120"/>
              </a:spcBef>
            </a:pPr>
            <a:r>
              <a:rPr lang="uz-UZ" altLang="en-US" sz="1400" i="1" dirty="0">
                <a:solidFill>
                  <a:srgbClr val="B0C4DE"/>
                </a:solidFill>
                <a:latin typeface="Calibri"/>
              </a:rPr>
              <a:t>Dasturiy versiyalar orasidagi o'zgarishlarni tahlil qiluvchi tizim</a:t>
            </a:r>
          </a:p>
          <a:p>
            <a:pPr algn="ctr">
              <a:spcBef>
                <a:spcPts val="60"/>
              </a:spcBef>
            </a:pPr>
            <a:r>
              <a:rPr lang="uz-UZ" altLang="en-US" sz="1000" dirty="0">
                <a:solidFill>
                  <a:srgbClr val="7B2FBE"/>
                </a:solidFill>
                <a:latin typeface="Calibri"/>
              </a:rPr>
              <a:t>─────────────────────────────────────</a:t>
            </a:r>
          </a:p>
          <a:p>
            <a:pPr algn="ctr">
              <a:spcBef>
                <a:spcPts val="130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>Bitiruvchi:  Amonov Sohibjon</a:t>
            </a:r>
          </a:p>
          <a:p>
            <a:pPr algn="ctr">
              <a:spcBef>
                <a:spcPts val="110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>Ilmiy rahbar:  Yusupov O.</a:t>
            </a:r>
          </a:p>
          <a:p>
            <a:pPr algn="ctr">
              <a:spcBef>
                <a:spcPts val="110"/>
              </a:spcBef>
            </a:pPr>
            <a:r>
              <a:rPr lang="uz-UZ" altLang="en-US" sz="1300" dirty="0">
                <a:solidFill>
                  <a:srgbClr val="B0C4DE"/>
                </a:solidFill>
                <a:latin typeface="Calibri"/>
              </a:rPr>
              <a:t>TATU Samarqand filiali  —  2026</a:t>
            </a:r>
          </a:p>
          <a:p>
            <a:pPr algn="ctr">
              <a:spcBef>
                <a:spcPts val="60"/>
              </a:spcBef>
            </a:pPr>
            <a:r>
              <a:rPr lang="uz-UZ" altLang="en-US" sz="1000" dirty="0">
                <a:solidFill>
                  <a:srgbClr val="7B2FBE"/>
                </a:solidFill>
                <a:latin typeface="Calibri"/>
              </a:rPr>
              <a:t>─────────────────────────────────────</a:t>
            </a:r>
          </a:p>
          <a:p>
            <a:pPr algn="ctr">
              <a:spcBef>
                <a:spcPts val="130"/>
              </a:spcBef>
            </a:pPr>
            <a:r>
              <a:rPr lang="uz-UZ" altLang="en-US" sz="1200" i="1" dirty="0">
                <a:solidFill>
                  <a:srgbClr val="00C6FF"/>
                </a:solidFill>
                <a:latin typeface="Calibri"/>
              </a:rPr>
              <a:t>React  •  Node.js  •  Express.js  •  Google Gemini AI  •  Git</a:t>
            </a:r>
          </a:p>
          <a:p>
            <a:pPr algn="ctr">
              <a:spcBef>
                <a:spcPts val="130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 algn="ctr">
              <a:spcBef>
                <a:spcPts val="100"/>
              </a:spcBef>
            </a:pPr>
            <a:r>
              <a:rPr lang="uz-UZ" altLang="en-US" sz="1600" b="1" dirty="0">
                <a:solidFill>
                  <a:srgbClr val="00E676"/>
                </a:solidFill>
                <a:latin typeface="Calibri"/>
              </a:rPr>
              <a:t>💬  Savollar uchun tayyorman!</a:t>
            </a:r>
          </a:p>
        </p:txBody>
      </p:sp>
    </p:spTree>
  </p:cSld>
  <p:clrMapOvr>
    <a:masterClr/>
  </p:clrMapOvr>
</p:sld>
</file>

<file path=docProps/core.xml><?xml version="1.0" encoding="utf-8"?>
<cp:coreProperties xmlns:cp="http://schemas.openxmlformats.org/package/2006/metadata/core-properties" xmlns:dc="http://purl.org/dc/elements/1.1/">
  <dc:title>Dasturiy versiyalar tahlil tizimi</dc:title>
  <dc:creator>Amonov Sohibjon</dc:creator>
</cp:coreProperties>
</file>