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27"/>
  </p:sldMasterIdLst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</p:sldIdLst>
  <p:sldSz cx="12192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  <Relationship Id="rId4" Type="http://schemas.openxmlformats.org/officeDocument/2006/relationships/slide" Target="slides/slide4.xml"/>
  <Relationship Id="rId5" Type="http://schemas.openxmlformats.org/officeDocument/2006/relationships/slide" Target="slides/slide5.xml"/>
  <Relationship Id="rId6" Type="http://schemas.openxmlformats.org/officeDocument/2006/relationships/slide" Target="slides/slide6.xml"/>
  <Relationship Id="rId7" Type="http://schemas.openxmlformats.org/officeDocument/2006/relationships/slide" Target="slides/slide7.xml"/>
  <Relationship Id="rId8" Type="http://schemas.openxmlformats.org/officeDocument/2006/relationships/slide" Target="slides/slide8.xml"/>
  <Relationship Id="rId9" Type="http://schemas.openxmlformats.org/officeDocument/2006/relationships/slide" Target="slides/slide9.xml"/>
  <Relationship Id="rId10" Type="http://schemas.openxmlformats.org/officeDocument/2006/relationships/slide" Target="slides/slide10.xml"/>
  <Relationship Id="rId11" Type="http://schemas.openxmlformats.org/officeDocument/2006/relationships/slide" Target="slides/slide11.xml"/>
  <Relationship Id="rId12" Type="http://schemas.openxmlformats.org/officeDocument/2006/relationships/slide" Target="slides/slide12.xml"/>
  <Relationship Id="rId13" Type="http://schemas.openxmlformats.org/officeDocument/2006/relationships/slide" Target="slides/slide13.xml"/>
  <Relationship Id="rId14" Type="http://schemas.openxmlformats.org/officeDocument/2006/relationships/slide" Target="slides/slide14.xml"/>
  <Relationship Id="rId15" Type="http://schemas.openxmlformats.org/officeDocument/2006/relationships/slide" Target="slides/slide15.xml"/>
  <Relationship Id="rId16" Type="http://schemas.openxmlformats.org/officeDocument/2006/relationships/slide" Target="slides/slide16.xml"/>
  <Relationship Id="rId17" Type="http://schemas.openxmlformats.org/officeDocument/2006/relationships/slide" Target="slides/slide17.xml"/>
  <Relationship Id="rId18" Type="http://schemas.openxmlformats.org/officeDocument/2006/relationships/slide" Target="slides/slide18.xml"/>
  <Relationship Id="rId19" Type="http://schemas.openxmlformats.org/officeDocument/2006/relationships/slide" Target="slides/slide19.xml"/>
  <Relationship Id="rId20" Type="http://schemas.openxmlformats.org/officeDocument/2006/relationships/slide" Target="slides/slide20.xml"/>
  <Relationship Id="rId21" Type="http://schemas.openxmlformats.org/officeDocument/2006/relationships/slide" Target="slides/slide21.xml"/>
  <Relationship Id="rId22" Type="http://schemas.openxmlformats.org/officeDocument/2006/relationships/slide" Target="slides/slide22.xml"/>
  <Relationship Id="rId23" Type="http://schemas.openxmlformats.org/officeDocument/2006/relationships/slide" Target="slides/slide23.xml"/>
  <Relationship Id="rId24" Type="http://schemas.openxmlformats.org/officeDocument/2006/relationships/slide" Target="slides/slide24.xml"/>
  <Relationship Id="rId25" Type="http://schemas.openxmlformats.org/officeDocument/2006/relationships/slide" Target="slides/slide25.xml"/>
  <Relationship Id="rId26" Type="http://schemas.openxmlformats.org/officeDocument/2006/relationships/slide" Target="slides/slide26.xml"/>
  <Relationship Id="rId27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6" Type="http://schemas.openxmlformats.org/officeDocument/2006/relationships/image" Target="../media/image1.jp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7" Type="http://schemas.openxmlformats.org/officeDocument/2006/relationships/image" Target="../media/image2.jp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8" Type="http://schemas.openxmlformats.org/officeDocument/2006/relationships/image" Target="../media/image3.jp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9" Type="http://schemas.openxmlformats.org/officeDocument/2006/relationships/image" Target="../media/image4.jp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0" Type="http://schemas.openxmlformats.org/officeDocument/2006/relationships/image" Target="../media/image5.jpg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11" Type="http://schemas.openxmlformats.org/officeDocument/2006/relationships/image" Target="../media/image6.jpg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251999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6606000"/>
            <a:ext cx="12193200" cy="251999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00C6FF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792000"/>
            <a:ext cx="11113200" cy="5112000"/>
          </a:xfrm>
          <a:prstGeom prst="roundRect">
            <a:avLst>
              <a:gd name="adj" fmla="val 20000"/>
            </a:avLst>
          </a:prstGeom>
          <a:solidFill>
            <a:srgbClr val="0F2547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792000"/>
            <a:ext cx="11113200" cy="3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20000" y="18000"/>
            <a:ext cx="10800000" cy="54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000" i="1" dirty="0">
                <a:solidFill>
                  <a:srgbClr val="00C6FF"/>
                </a:solidFill>
                <a:latin typeface="Calibri"/>
              </a:rPr>
              <a:t>O'ZBEKISTON RESPUBLIKASI — TATU SAMARQAND FILIALI</a:t>
            </a:r>
          </a:p>
        </p:txBody>
      </p:sp>
      <p:sp>
        <p:nvSpPr>
          <p:cNvPr id="1" name="tb"/>
          <p:cNvSpPr txBox="1"/>
          <p:nvPr/>
        </p:nvSpPr>
        <p:spPr>
          <a:xfrm>
            <a:off x="720000" y="900000"/>
            <a:ext cx="10800000" cy="43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1200" dirty="0">
                <a:solidFill>
                  <a:srgbClr val="FFD700"/>
                </a:solidFill>
                <a:latin typeface="Calibri"/>
              </a:rPr>
              <a:t>⚡  BITIRUV MALAKAVIY ISHI  ⚡</a:t>
            </a:r>
          </a:p>
        </p:txBody>
      </p:sp>
      <p:sp>
        <p:nvSpPr>
          <p:cNvPr id="1" name="tb"/>
          <p:cNvSpPr txBox="1"/>
          <p:nvPr/>
        </p:nvSpPr>
        <p:spPr>
          <a:xfrm>
            <a:off x="720000" y="1368000"/>
            <a:ext cx="108000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Dasturiy versiyalar orasidagi</a:t>
            </a:r>
          </a:p>
          <a:p>
            <a:pPr algn="ctr"/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o'zgarishlarni tahlil qiluvchi</a:t>
            </a:r>
          </a:p>
          <a:p>
            <a:pPr algn="ctr"/>
            <a:r>
              <a:rPr lang="uz-UZ" altLang="en-US" sz="2200" b="1" dirty="0">
                <a:solidFill>
                  <a:srgbClr val="FFFFFF"/>
                </a:solidFill>
                <a:latin typeface="Calibri"/>
              </a:rPr>
              <a:t>dasturiy tizimni loyihalashtirish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160000" y="2520000"/>
            <a:ext cx="7920000" cy="288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080000" y="2664000"/>
            <a:ext cx="10080000" cy="21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>
              <a:spcBef>
                <a:spcPts val="10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Bitiruvchi:</a:t>
            </a: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Amonov Sohibjon</a:t>
            </a:r>
          </a:p>
          <a:p>
            <a:pPr algn="ctr">
              <a:spcBef>
                <a:spcPts val="10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Ilmiy rahbar:</a:t>
            </a: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Yusupov O.</a:t>
            </a:r>
          </a:p>
          <a:p>
            <a:pPr algn="ctr">
              <a:spcBef>
                <a:spcPts val="10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Kafedra:</a:t>
            </a: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Dasturiy injiniring</a:t>
            </a:r>
          </a:p>
          <a:p>
            <a:pPr algn="ctr">
              <a:spcBef>
                <a:spcPts val="10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Yil:</a:t>
            </a: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2026</a:t>
            </a:r>
          </a:p>
          <a:p>
            <a:pPr algn="ctr">
              <a:spcBef>
                <a:spcPts val="8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Bef>
                <a:spcPts val="80"/>
              </a:spcBef>
            </a:pPr>
            <a:r>
              <a:rPr lang="uz-UZ" altLang="en-US" sz="1100" i="1" dirty="0">
                <a:solidFill>
                  <a:srgbClr val="B0C4DE"/>
                </a:solidFill>
                <a:latin typeface="Calibri"/>
              </a:rPr>
              <a:t>React  •  Node.js  •  Express.js  •  Google Gemini AI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1260000"/>
            <a:ext cx="1800000" cy="1800000"/>
          </a:xfrm>
          <a:prstGeom prst="roundRect">
            <a:avLst>
              <a:gd name="adj" fmla="val 20000"/>
            </a:avLst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540000" y="1260000"/>
            <a:ext cx="1800000" cy="18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6000" b="1" dirty="0">
                <a:solidFill>
                  <a:srgbClr val="00C6FF"/>
                </a:solidFill>
                <a:latin typeface="Calibri"/>
              </a:rPr>
              <a:t>📋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1440000"/>
            <a:ext cx="8640000" cy="1440000"/>
          </a:xfrm>
          <a:prstGeom prst="roundRect">
            <a:avLst>
              <a:gd name="adj" fmla="val 15000"/>
            </a:avLst>
          </a:prstGeom>
          <a:solidFill>
            <a:srgbClr val="0F2547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1440000"/>
            <a:ext cx="8640000" cy="288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2628000" y="1584000"/>
            <a:ext cx="8424000" cy="115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/>
            </a:r>
          </a:p>
          <a:p>
            <a:pPr/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MUNDARIJA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3420000"/>
            <a:ext cx="11160000" cy="3060000"/>
          </a:xfrm>
          <a:prstGeom prst="roundRect">
            <a:avLst>
              <a:gd name="adj" fmla="val 10000"/>
            </a:avLst>
          </a:prstGeom>
          <a:solidFill>
            <a:srgbClr val="0F2547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20000" y="3600000"/>
            <a:ext cx="10800000" cy="2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1. Mavzuning dolzarbligi va tadqiqot maqsadi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2. I Bob — Versiyalarni boshqarish tizimlari: nazariy asoslar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3. II Bob — Arxitektura va dasturiy tizimni loyihalashtirish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4. III Bob — Amaliy realizatsiya va sinov natijalari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5. Xulosa, takliflar va istiqbollar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Mavzuning Dolzarbligi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3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Zamonaviy dasturiy mahsulotlar o'ta murakkab va ko'p qatlamli arxitekturaga ega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Jamoaviy ishlashda minglab o'zgarishlar (commit) kiritiladi — nazorat zarur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4444"/>
                </a:solidFill>
                <a:latin typeface="Calibri"/>
              </a:rPr>
              <a:t>    ⚠ Muammo: An'anaviy Diff vositalari FAQAT sintaktik farqlarni ko'rsatadi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• Mantiqiy ma'no va xavfsizlikka ta'sir aniqlanmaydi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• Kodi qayta ko'rib chiqish (Code Review) inson resursini ko'p talab qiladi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• Yirik loyihalarda xatolar o'tkazib yuboriladi — xavfli!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Yechim: LLM (Large Language Models) texnologiyasini integratsiya qilish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Google Gemini 2.5 Flash — o'zbek tilida semantik tahlil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React + Node.js + Express.js — zamonaviy SPA veb-platforma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Tadqiqot Maqsadi va Vazifalari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4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MAQSAD: Versiyalar o'zgarishlarini tahlil qiluvchi SPA veb-platforma yaratish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Dasturiy kod o'zgarishlarini qatorlar darajasida aniqlash va AI bilan izohlash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Git va VCS nazariy asoslarini o'rganish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LLM API integratsiya imkoniyatlarini tadqiq etish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5 oynali mantiqiy-funksional model ishlab chiqish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Router-Controller andozasida backend loyihalash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Prompt Engineering modeli yaratish (o'zbek tilida)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React SPA interfeysi amalga oshirish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Tadqiqot obyekti: DT hayotiy sikli, versiyalarni boshqarish jarayonlari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Predmeti: Diff algoritmlari, JS asinxron metodlar, LLM semantik tahlil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1260000"/>
            <a:ext cx="1800000" cy="1800000"/>
          </a:xfrm>
          <a:prstGeom prst="roundRect">
            <a:avLst>
              <a:gd name="adj" fmla="val 20000"/>
            </a:avLst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540000" y="1260000"/>
            <a:ext cx="1800000" cy="18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6000" b="1" dirty="0">
                <a:solidFill>
                  <a:srgbClr val="00C6FF"/>
                </a:solidFill>
                <a:latin typeface="Calibri"/>
              </a:rPr>
              <a:t>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1440000"/>
            <a:ext cx="8640000" cy="1440000"/>
          </a:xfrm>
          <a:prstGeom prst="roundRect">
            <a:avLst>
              <a:gd name="adj" fmla="val 15000"/>
            </a:avLst>
          </a:prstGeom>
          <a:solidFill>
            <a:srgbClr val="0F2547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1440000"/>
            <a:ext cx="8640000" cy="288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2628000" y="1584000"/>
            <a:ext cx="8424000" cy="115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BOB:</a:t>
            </a:r>
          </a:p>
          <a:p>
            <a:pPr/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NAZARIY ASOSLAR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3420000"/>
            <a:ext cx="11160000" cy="3060000"/>
          </a:xfrm>
          <a:prstGeom prst="roundRect">
            <a:avLst>
              <a:gd name="adj" fmla="val 10000"/>
            </a:avLst>
          </a:prstGeom>
          <a:solidFill>
            <a:srgbClr val="0F2547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20000" y="3600000"/>
            <a:ext cx="10800000" cy="2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1.1 — Versiyalarni boshqarish tizimlari (VCS) tarixi va ahamiyati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1.2 — Diff tahlil metodologiyasi va mavjud dasturiy vositalar sharhi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1.3 — LLM texnologiyalarini dasturiy kod tahliliga integratsiya istiqbollari</a:t>
            </a:r>
          </a:p>
        </p:txBody>
      </p:sp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Versiyalarni Boshqarish Tizimlari (VCS)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6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LOKAL VCS — fayllar faqat shaxsiy kompyuterda saqlangan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Kamchiligi: boshqa dasturchilarga uzatish imkoni yo'q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MARKAZLASHTIRILGAN (CVCS) — SVN, CVS tizimlar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Yagona server — server o'chsa, butun loyiha tarixi yo'qoladi ⚠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TAQSIMLANGAN (DVCS) — Git (zamonaviy standart)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✅ Har dasturchi to'liq repozitoriyaga ega (lokal klon)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✅ Internet shart emas — lokal operatsiyalar sekunddan kam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✅ Snapshot asosida saqlash — tezlik va xavfsizlik kafolati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✅ Yengil tarmoqlanish — branch = 41 baytlik ko'rsatgich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Git — dunyo dasturiy injeneriyasining DE FACTO standarti (2005-hozir)</a:t>
            </a:r>
          </a:p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Diff Tahlil Algoritmlari — Mayers, Patience, Histogram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7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MAYERS ALGORITMI (1986) — Git standart algoritmi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Asosi: LCS (Longest Common Subsequence) — eng qisqa tahrirlash skripti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PATIENCE DIFF — noyob qatorlarga tayanadi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Rename, refaktoring operatsiyalarida aniqroq natija beradi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HISTOGRAM DIFF — chastota asosida optimallashtirish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Katta loyihalarda eng yuqori tezlik ko'rsatadi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Unified Diff format: qo'shilgan (+), o'chirilgan (-), o'zgarmagan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jsdiff kutubxonasi — Mayers + JSON parsing (loyihamizda ishlatildi)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4444"/>
                </a:solidFill>
                <a:latin typeface="Calibri"/>
              </a:rPr>
              <a:t>    ⚠ Asosiy muammo: Barcha algoritmlar faqat SINTAKTIK tahlil qiladi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Mantiqiy ma'no, xavfsizlik ta'siri — AI tahlilisiz aniqlab bo'lmaydi!</a:t>
            </a:r>
          </a:p>
        </p:txBody>
      </p:sp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Google Gemini LLM Integratsiyasi — Nima uchun?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8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Gemini 2.5 Flash modeli tanlangan — asosiy sabablar: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1 MILLION TOKEN kontekst oynasi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→ Butun loyiha diff matni bitta so'rovda tahlil qilinadi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→ Fragment-fragment yuborish kerak emas — to'liq tahlil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O'ZBEK TILI semantikasini mukammal tushunadi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→ Texnik terminologiyani to'g'ri tarjima va izohlash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Streaming JSON response — past kechikish, yuqori tezlik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PROMPT ENGINEERING — 3 qatlamli tuzilma: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1) System Prompt — mutaxassis roli va o'zbek tili talabi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2) Context Injection — diff matni + loyiha metama'lumoti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3) Output Format — Markdown: sarlavhalar + ro'yxatlar + kod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Hallucination muammosi: Faqat berilgan diff asosida fikr yuritish talabi</a:t>
            </a:r>
          </a:p>
        </p:txBody>
      </p:sp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1260000"/>
            <a:ext cx="1800000" cy="1800000"/>
          </a:xfrm>
          <a:prstGeom prst="roundRect">
            <a:avLst>
              <a:gd name="adj" fmla="val 20000"/>
            </a:avLst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540000" y="1260000"/>
            <a:ext cx="1800000" cy="18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6000" b="1" dirty="0">
                <a:solidFill>
                  <a:srgbClr val="00C6FF"/>
                </a:solidFill>
                <a:latin typeface="Calibri"/>
              </a:rPr>
              <a:t>II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1440000"/>
            <a:ext cx="8640000" cy="1440000"/>
          </a:xfrm>
          <a:prstGeom prst="roundRect">
            <a:avLst>
              <a:gd name="adj" fmla="val 15000"/>
            </a:avLst>
          </a:prstGeom>
          <a:solidFill>
            <a:srgbClr val="0F2547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1440000"/>
            <a:ext cx="8640000" cy="288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2628000" y="1584000"/>
            <a:ext cx="8424000" cy="115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BOB: ARXITEKTURA</a:t>
            </a:r>
          </a:p>
          <a:p>
            <a:pPr/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VA LOYIHALASH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3420000"/>
            <a:ext cx="11160000" cy="3060000"/>
          </a:xfrm>
          <a:prstGeom prst="roundRect">
            <a:avLst>
              <a:gd name="adj" fmla="val 10000"/>
            </a:avLst>
          </a:prstGeom>
          <a:solidFill>
            <a:srgbClr val="0F2547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20000" y="3600000"/>
            <a:ext cx="10800000" cy="2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2.1 — Funksional talablar, 5 ta asosiy modul va mantiqiy model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2.2 — Router-Controller andozasida backend arxitekturasi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2.3 — Frontend-Backend integratsiyasi va axborot oqimlari</a:t>
            </a:r>
          </a:p>
        </p:txBody>
      </p:sp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Tizimning 5 Ta Asosiy Moduli (Mantiqiy Model)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10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  1️⃣  HOME — URL kiritish, regex validatsiya, progressiv yuklanish animatsiyasi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  2️⃣  COMMITS — Commitlar tarixi, qidiruv (xabar/muallif/ID bo'yicha)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Statistika kartochkalari: jami commit, qatorlar, mualliflar soni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  3️⃣  DIFF VIEWER — Qatorlar darajasida vizualizatsiya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Yashil = qo'shilgan (+)  |  Qizil = o'chirilgan (-)  |  Chap: fayllar paneli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  4️⃣  AI ANALYSIS — Google Gemini semantik hisoboti (o'zbek tilida)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Sintaktik o'zgarishlar + Biznes/Xavfsizlik mantiqi + Auto-fix tavsiyalar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  5️⃣  DASHBOARD — Loyiha analitikasi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Top fayllar grafigi + Dasturchilar reytingi (Leaderboard)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SPA arxitektura: Sahifalar almashinishida brauzer QAYTA YUKLANMAYDI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history.pushState orqali URL yo'llari dinamik aks ettiriladi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Tizimning Kirish Qismi — Home Page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11</a:t>
            </a:r>
          </a:p>
        </p:txBody>
      </p:sp>
      <p:pic>
        <p:nvPicPr>
          <p:cNvPr id="10" name="img"/>
          <p:cNvPicPr/>
          <p:nvPr/>
        </p:nvPicPr>
        <p:blipFill>
          <a:blip r:embed="rId6"/>
          <a:stretch>
            <a:fillRect/>
          </a:stretch>
        </p:blipFill>
        <p:spPr>
          <a:xfrm>
            <a:off x="288000" y="1080000"/>
            <a:ext cx="7380000" cy="522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63000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6680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273199" cy="5220000"/>
          </a:xfrm>
          <a:prstGeom prst="roundRect">
            <a:avLst>
              <a:gd name="adj" fmla="val 15000"/>
            </a:avLst>
          </a:prstGeom>
          <a:solidFill>
            <a:srgbClr val="0D1B2A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3200" cy="522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902000" y="1188000"/>
            <a:ext cx="4093199" cy="500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GitHub/GitLab URL manzilini qabul qiladi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Regex validatsiya va xavfsizlik tekshiruvi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Progressiv yuklanish animatsiyasi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Tayyor ommabop repozitoriyalar ro'yxati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Dark Mode + Neon effektli zamonaviy dizayn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Commitlar Tarixi — Repository Explorer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12</a:t>
            </a:r>
          </a:p>
        </p:txBody>
      </p:sp>
      <p:pic>
        <p:nvPicPr>
          <p:cNvPr id="10" name="img"/>
          <p:cNvPicPr/>
          <p:nvPr/>
        </p:nvPicPr>
        <p:blipFill>
          <a:blip r:embed="rId7"/>
          <a:stretch>
            <a:fillRect/>
          </a:stretch>
        </p:blipFill>
        <p:spPr>
          <a:xfrm>
            <a:off x="288000" y="1080000"/>
            <a:ext cx="7380000" cy="522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63000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6680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273199" cy="5220000"/>
          </a:xfrm>
          <a:prstGeom prst="roundRect">
            <a:avLst>
              <a:gd name="adj" fmla="val 15000"/>
            </a:avLst>
          </a:prstGeom>
          <a:solidFill>
            <a:srgbClr val="0D1B2A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3200" cy="522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902000" y="1188000"/>
            <a:ext cx="4093199" cy="500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Backend klonlashdan so'ng avtomatik o'tish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Commit xabar, muallif, sana bo'yicha qidiruv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Real vaqtda 4 ta statistik kartochka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Commit tanlanganda — Diff sahifasiga o'tish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Sorting va filtering imkoniyatlari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Router-Controller Andozasi — Backend Arxitekturasi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13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ROUTER QATLAMI (routes/) — faqat endpoint va HTTP metodlar: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gitRoutes.js → /api/git/clone, /api/git/commits, /api/git/diff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aiRoutes.js  → /api/ai/analyze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CONTROLLER QATLAMI (controllers/) — biznes mantiq: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gitController.js → clone, log, diff, parse operatsiyalari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aiController.js  → Gemini API chaqiruvi, Prompt injection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AFZALLIK: Loose Coupling — komponentlar mustaqil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Gemini o'rniga boshqa LLM qo'shish = FAQAT 1 fayl o'zgartirish!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Global Error Handling Middleware — try/catch barcha controllerlarda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HTTP 400 (noto'g'ri so'rov), 404 (topilmadi), 500 (server xatosi)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Non-blocking I/O: sekundiga 50+ asinxron so'rov parallel qayta ishlash</a:t>
            </a:r>
          </a:p>
        </p:txBody>
      </p:sp>
    </p:spTree>
  </p:cSld>
  <p:clrMapOvr>
    <a:masterClr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Axborot Oqimlari — Mantiqiy Blok-sxema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14</a:t>
            </a:r>
          </a:p>
        </p:txBody>
      </p:sp>
      <p:pic>
        <p:nvPicPr>
          <p:cNvPr id="10" name="img"/>
          <p:cNvPicPr/>
          <p:nvPr/>
        </p:nvPicPr>
        <p:blipFill>
          <a:blip r:embed="rId8"/>
          <a:stretch>
            <a:fillRect/>
          </a:stretch>
        </p:blipFill>
        <p:spPr>
          <a:xfrm>
            <a:off x="288000" y="1080000"/>
            <a:ext cx="7380000" cy="522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63000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6680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273199" cy="5220000"/>
          </a:xfrm>
          <a:prstGeom prst="roundRect">
            <a:avLst>
              <a:gd name="adj" fmla="val 15000"/>
            </a:avLst>
          </a:prstGeom>
          <a:solidFill>
            <a:srgbClr val="0D1B2A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3200" cy="522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902000" y="1188000"/>
            <a:ext cx="4093199" cy="500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React → Express.js → Git/AI yadrolari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Parallel asinxron qayta ishlash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JSON Response → React State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SPA: sahifa qayta yuklanmaydi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Global xatolik boshqaruvi</a:t>
            </a:r>
          </a:p>
        </p:txBody>
      </p:sp>
    </p:spTree>
  </p:cSld>
  <p:clrMapOvr>
    <a:masterClr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Diff Tahlil Oynasi — Kod Vizualizatsiyasi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15</a:t>
            </a:r>
          </a:p>
        </p:txBody>
      </p:sp>
      <p:pic>
        <p:nvPicPr>
          <p:cNvPr id="10" name="img"/>
          <p:cNvPicPr/>
          <p:nvPr/>
        </p:nvPicPr>
        <p:blipFill>
          <a:blip r:embed="rId9"/>
          <a:stretch>
            <a:fillRect/>
          </a:stretch>
        </p:blipFill>
        <p:spPr>
          <a:xfrm>
            <a:off x="288000" y="1080000"/>
            <a:ext cx="7380000" cy="522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63000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6680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273199" cy="5220000"/>
          </a:xfrm>
          <a:prstGeom prst="roundRect">
            <a:avLst>
              <a:gd name="adj" fmla="val 15000"/>
            </a:avLst>
          </a:prstGeom>
          <a:solidFill>
            <a:srgbClr val="0D1B2A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3200" cy="522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902000" y="1188000"/>
            <a:ext cx="4093199" cy="500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Commit ichidagi fayl o'zgarishlari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Yashil satir: qo'shilgan (+)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Qizil satir: o'chirilgan (-)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Chap panel: fayllar ro'yxati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O'ng: diff viewer oynasi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'AI izohi' tugmasi — Gemini tahlili</a:t>
            </a:r>
          </a:p>
        </p:txBody>
      </p:sp>
    </p:spTree>
  </p:cSld>
  <p:clrMapOvr>
    <a:masterClr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Frontend-Backend Integratsiyasi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16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RESTful API arxitekturasi — HTTP/JSON protokoli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React → Axios asinxron so'rov → Express.js backend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CORS xavfsizlik sozlamasi: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Faqat ruxsat etilgan domenlardan so'rovlarni qabul qilish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Kross-sayt so'rov qalbakishtirish (CSRF) oldini olish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3 qatlamli axborot oqimi: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1) React: so'rov yuborish + yuklanish animatsiyasi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2) Express: marshrutlash → Controller → Git/AI yadro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3) JSON javob → React state yangilanish → DOM qayta chizish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Global holat boshqaruvi (State Management):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App.jsx markaziy useState — 5 sahifaga prop drilling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Kesh mexanizmi: klonlangan repolar lokal diskda saqlanadi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Qayta so'rovda internet sarflanmaydi — tezlik oshadi</a:t>
            </a:r>
          </a:p>
        </p:txBody>
      </p:sp>
    </p:spTree>
  </p:cSld>
  <p:clrMapOvr>
    <a:masterClr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1260000"/>
            <a:ext cx="1800000" cy="1800000"/>
          </a:xfrm>
          <a:prstGeom prst="roundRect">
            <a:avLst>
              <a:gd name="adj" fmla="val 20000"/>
            </a:avLst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540000" y="1260000"/>
            <a:ext cx="1800000" cy="18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6000" b="1" dirty="0">
                <a:solidFill>
                  <a:srgbClr val="00C6FF"/>
                </a:solidFill>
                <a:latin typeface="Calibri"/>
              </a:rPr>
              <a:t>III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1440000"/>
            <a:ext cx="8640000" cy="1440000"/>
          </a:xfrm>
          <a:prstGeom prst="roundRect">
            <a:avLst>
              <a:gd name="adj" fmla="val 15000"/>
            </a:avLst>
          </a:prstGeom>
          <a:solidFill>
            <a:srgbClr val="0F2547">
              <a:alpha val="5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1440000"/>
            <a:ext cx="8640000" cy="288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2628000" y="1584000"/>
            <a:ext cx="8424000" cy="115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BOB:</a:t>
            </a:r>
          </a:p>
          <a:p>
            <a:pPr/>
            <a:r>
              <a:rPr lang="uz-UZ" altLang="en-US" sz="2000" b="1" dirty="0">
                <a:solidFill>
                  <a:srgbClr val="FFFFFF"/>
                </a:solidFill>
                <a:latin typeface="Calibri"/>
              </a:rPr>
              <a:t>AMALIY REALIZATSIYA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540000" y="3420000"/>
            <a:ext cx="11160000" cy="3060000"/>
          </a:xfrm>
          <a:prstGeom prst="roundRect">
            <a:avLst>
              <a:gd name="adj" fmla="val 10000"/>
            </a:avLst>
          </a:prstGeom>
          <a:solidFill>
            <a:srgbClr val="0F2547">
              <a:alpha val="4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20000" y="3600000"/>
            <a:ext cx="10800000" cy="27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3.1 — Node.js/Express.js backend: klonlash va diff tahlil funksionalligi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3.2 — React SPA frontend: sahifalararo ma'lumotlar zanjiri</a:t>
            </a:r>
          </a:p>
          <a:p>
            <a:pPr>
              <a:spcBef>
                <a:spcPts val="60"/>
              </a:spcBef>
            </a:pPr>
            <a:r>
              <a:rPr lang="uz-UZ" altLang="en-US" sz="1200" dirty="0">
                <a:solidFill>
                  <a:srgbClr val="00C6FF"/>
                </a:solidFill>
                <a:latin typeface="Calibri"/>
              </a:rPr>
              <a:t>  ▸  </a:t>
            </a: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3.3 — Real repozitoriyalarda sinov va AI hisobot natijalari tahlili</a:t>
            </a:r>
          </a:p>
        </p:txBody>
      </p:sp>
    </p:spTree>
  </p:cSld>
  <p:clrMapOvr>
    <a:masterClr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Backend Texnik Stack — Node.js/Express.js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18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Node.js — asinxron non-blocking I/O muhiti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EventLoop: server yadrosini bloklamasdan parallel so'rovlar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Express.js — Router-Controller andoza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simple-git — Git operatsiyalari: clone, log, diff, pull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jsdiff — Mayers diff algoritmi, JSON parsing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@google/generative-ai — Gemini SDK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dotenv — API kalitlar muhit o'zgaruvchilari (xavfsizlik)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cors — Cross-Origin xavfsizlik protokoli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Kesh mexanizmi: Klonlangan repolar lokal saqlanadi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Qayta yuklab o'tirmasdan tezroq javob berish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Xatolik boshqaruvi: try/catch + Global Middleware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HTTP 400/404/500 + O'zbek tilida xabar</a:t>
            </a:r>
          </a:p>
        </p:txBody>
      </p:sp>
    </p:spTree>
  </p:cSld>
  <p:clrMapOvr>
    <a:masterClr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Frontend Texnik Stack — React SPA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19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React 18 — komponentli SPA arxitektura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Virtual DOM: faqat o'zgargan komponent qayta chiziladi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useState + useEffect — holat boshqaruvi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App.jsx — markaziy xotira, 5 sahifaga prop drilling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Axios — HTTP interceptors, asinxron so'rovlar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Global baseURL, so'rov/javob interceptorlari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ReactMarkdown — AI hisobotini render qilish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Markdown → chiroyli formatlangan tahlil matni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CSS Dark Mode — Neon effektlar, animatsiyalar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history.pushState — URL yo'llari dinamik yangilanadi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Loading states: spinner va progress-bar animatsiyalari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Double-submit xatolarining oldini olish</a:t>
            </a:r>
          </a:p>
        </p:txBody>
      </p:sp>
    </p:spTree>
  </p:cSld>
  <p:clrMapOvr>
    <a:masterClr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AI Semantik Hisobot — Google Gemini Natijasi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20</a:t>
            </a:r>
          </a:p>
        </p:txBody>
      </p:sp>
      <p:pic>
        <p:nvPicPr>
          <p:cNvPr id="10" name="img"/>
          <p:cNvPicPr/>
          <p:nvPr/>
        </p:nvPicPr>
        <p:blipFill>
          <a:blip r:embed="rId10"/>
          <a:stretch>
            <a:fillRect/>
          </a:stretch>
        </p:blipFill>
        <p:spPr>
          <a:xfrm>
            <a:off x="288000" y="1080000"/>
            <a:ext cx="7380000" cy="522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63000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6680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273199" cy="5220000"/>
          </a:xfrm>
          <a:prstGeom prst="roundRect">
            <a:avLst>
              <a:gd name="adj" fmla="val 15000"/>
            </a:avLst>
          </a:prstGeom>
          <a:solidFill>
            <a:srgbClr val="0D1B2A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3200" cy="522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902000" y="1188000"/>
            <a:ext cx="4093199" cy="500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O'zbek tilida professional tahlil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Sintaktik o'zgarishlar tavsifi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Xavfsizlik va mantiq tahlili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Auto-fix tayyor kod namunalari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Markdown formatida render</a:t>
            </a:r>
          </a:p>
        </p:txBody>
      </p:sp>
    </p:spTree>
  </p:cSld>
  <p:clrMapOvr>
    <a:masterClr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Dashboard — Loyiha Analitikasi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21</a:t>
            </a:r>
          </a:p>
        </p:txBody>
      </p:sp>
      <p:pic>
        <p:nvPicPr>
          <p:cNvPr id="10" name="img"/>
          <p:cNvPicPr/>
          <p:nvPr/>
        </p:nvPicPr>
        <p:blipFill>
          <a:blip r:embed="rId11"/>
          <a:stretch>
            <a:fillRect/>
          </a:stretch>
        </p:blipFill>
        <p:spPr>
          <a:xfrm>
            <a:off x="288000" y="1080000"/>
            <a:ext cx="7380000" cy="5220000"/>
          </a:xfrm>
          <a:prstGeom prst="rect">
            <a:avLst/>
          </a:prstGeom>
        </p:spPr>
      </p:pic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6300000"/>
            <a:ext cx="7423200" cy="216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664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668000" y="1058400"/>
            <a:ext cx="21600" cy="526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273199" cy="5220000"/>
          </a:xfrm>
          <a:prstGeom prst="roundRect">
            <a:avLst>
              <a:gd name="adj" fmla="val 15000"/>
            </a:avLst>
          </a:prstGeom>
          <a:solidFill>
            <a:srgbClr val="0D1B2A">
              <a:alpha val="8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7812000" y="1080000"/>
            <a:ext cx="43200" cy="5220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7902000" y="1188000"/>
            <a:ext cx="4093199" cy="5004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Eng ko'p o'zgargan top fayllar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Progress-bar animatsiyali grafik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Dasturchilar faolligi reytingi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Umumiy statistika kartochkalari</a:t>
            </a:r>
          </a:p>
          <a:p>
            <a:pPr>
              <a:spcBef>
                <a:spcPts val="120"/>
              </a:spcBef>
            </a:pPr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 ▸ </a:t>
            </a:r>
            <a:r>
              <a:rPr lang="uz-UZ" altLang="en-US" sz="1100" dirty="0">
                <a:solidFill>
                  <a:srgbClr val="B0C4DE"/>
                </a:solidFill>
                <a:latin typeface="Calibri"/>
              </a:rPr>
              <a:t>Real vaqtda hisoblash</a:t>
            </a:r>
          </a:p>
        </p:txBody>
      </p:sp>
    </p:spTree>
  </p:cSld>
  <p:clrMapOvr>
    <a:masterClr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Sinov Natijalari — Real Repozitoriyalarda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22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Real GitHub repozitoriyalari ustida sinov o'tkazildi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JavaScript ekotizimida yozilgan murakkab loyihalar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Barcha 5 modul muvaffaqiyatli ishladi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AI o'zbek tilida professional semantik hisobot berdi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Kiberxavfsizlik kamchiliklari avtomatik aniqlandi</a:t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✅ Auto-fix tavsiyalari bilan tayyor kod namunalari berildi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ASOSIY NATIJALAR: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✅ Code Review vaqti 40-50% qisqardi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✅ Mantiqiy xatolarni aniqlash aniqligi sezilarli oshdi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✅ AI modeli hallucination kamaytirildi (qat'iy diff-based prompt)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Dashboard: commitlar, qatorlar, mualliflar statistikasi real vaqtda</a:t>
            </a:r>
          </a:p>
        </p:txBody>
      </p:sp>
    </p:spTree>
  </p:cSld>
  <p:clrMapOvr>
    <a:masterClr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Ilmiy Yangilik va Amaliy Ahamiyat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23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ILMIY YANGILIK: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Kod o'zgarishlarini LLM yordamida o'zbek tilida semantik tahlil qilishning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integratsiyalashgan mantiqiy-arxitekturaviy modeli BIRINCHI MARTA ishlab chiqildi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AMALIY AHAMIYAT: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✅ IT kompaniyalar uchun Code Review avtomatizatsiyasi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✅ Loyiha audit va monitoring tizimi — real vaqt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✅ Jamoa faolligini kuzatish (Dashboard + Leaderboard)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✅ Dasturiy xavfsizlikni ta'minlash vositasi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C6FF"/>
                </a:solidFill>
                <a:latin typeface="Calibri"/>
              </a:rPr>
              <a:t>    ▸ Nofunksional talablar bajarildi: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Ishlash tezligi: oddiy API so'rovlar &lt; 200ms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Ishonchlilik: Global Error Handling + Retry mexanizmi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Xavfsizlik: Regex validatsiya + CORS + dotenv API kalit</a:t>
            </a:r>
          </a:p>
        </p:txBody>
      </p:sp>
    </p:spTree>
  </p:cSld>
  <p:clrMapOvr>
    <a:masterClr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Xulosa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24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  1️⃣  An'anaviy diff vositalari sintaktik darajada qoladi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 Semantik tahlil uchun AI integratsiya ZARUR ekanligi isbotlandi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  2️⃣  Router-Controller + React SPA arxitekturasi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 Barqarorlik, tezkorlik va modullilikni ta'minladi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  3️⃣  Gemini 2.5 Flash: o'zbek tilida professional semantik hisobot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 Prompt Engineering 3 qatlamli tuzilmasi muvaffaqiyatli ishladi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dirty="0">
                <a:solidFill>
                  <a:srgbClr val="FFFFFF"/>
                </a:solidFill>
                <a:latin typeface="Calibri"/>
              </a:rPr>
              <a:t>    4️⃣  Real sinov natijasi: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 Code Review vaqti 40-50% qisqardi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 Kiberxavfsizlik muammolari avtomatik aniqlanadi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📌 Ishlab chiqilgan SPA veb-platforma IT kompaniyalar uchun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tayyor amaliy dasturiy mahsulot sifatida foydalanishga tayyor!</a:t>
            </a:r>
          </a:p>
        </p:txBody>
      </p:sp>
    </p:spTree>
  </p:cSld>
  <p:clrMapOvr>
    <a:masterClr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1007999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972000"/>
            <a:ext cx="12193200" cy="432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80000" y="144000"/>
            <a:ext cx="108000" cy="684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432000" y="108000"/>
            <a:ext cx="11160000" cy="792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/>
            <a:r>
              <a:rPr lang="uz-UZ" altLang="en-US" sz="2100" b="1" dirty="0">
                <a:solidFill>
                  <a:srgbClr val="FFFFFF"/>
                </a:solidFill>
                <a:latin typeface="Calibri"/>
              </a:rPr>
              <a:t>Takliflar va Kelajak Istiqbollari</a:t>
            </a:r>
          </a:p>
        </p:txBody>
      </p:sp>
      <p:sp>
        <p:nvSpPr>
          <p:cNvPr id="1" name="tb"/>
          <p:cNvSpPr txBox="1"/>
          <p:nvPr/>
        </p:nvSpPr>
        <p:spPr>
          <a:xfrm>
            <a:off x="11340000" y="6408000"/>
            <a:ext cx="720000" cy="36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r"/>
            <a:r>
              <a:rPr lang="uz-UZ" altLang="en-US" sz="1100" dirty="0">
                <a:solidFill>
                  <a:srgbClr val="00C6FF"/>
                </a:solidFill>
                <a:latin typeface="Calibri"/>
              </a:rPr>
              <a:t>25</a:t>
            </a:r>
          </a:p>
        </p:txBody>
      </p:sp>
      <p:sp>
        <p:nvSpPr>
          <p:cNvPr id="1" name="tb"/>
          <p:cNvSpPr txBox="1"/>
          <p:nvPr/>
        </p:nvSpPr>
        <p:spPr>
          <a:xfrm>
            <a:off x="288000" y="1080000"/>
            <a:ext cx="11700000" cy="55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🔷 CI/CD Integratsiya (GitHub Actions plugin)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Har commit da — avtomatik AI tahlil, dasturchiga ogohlantirish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🔷 Lokal LLM modeli (Llama-3, CodeLlama, DeepSeek-Coder)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Ma'lumotlar maxfiyligi — GDPR muvofiqlik, korporativ tarmoq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🔷 Shaxsiylashtirilgan Prompt Sozlash Paneli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Kompaniya ichki standartlariga moslashtirilgan tahlil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🔷 Interaktiv Vizualizatsiya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Fayllararo bog'liqlik grafigi, arxitektura diagrammasi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🔷 Ko'p tillik qo'llab-quvvatlash</a:t>
            </a:r>
          </a:p>
          <a:p>
            <a:pPr>
              <a:spcBef>
                <a:spcPts val="40"/>
              </a:spcBef>
            </a:pPr>
            <a:r>
              <a:rPr lang="uz-UZ" altLang="en-US" sz="1200" dirty="0">
                <a:solidFill>
                  <a:srgbClr val="B0C4DE"/>
                </a:solidFill>
                <a:latin typeface="Calibri"/>
              </a:rPr>
              <a:t>   Rus, ingliz, qozoq tillarida semantik hisobotlar</a:t>
            </a:r>
          </a:p>
          <a:p>
            <a:pPr>
              <a:spcBef>
                <a:spcPts val="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Bef>
                <a:spcPts val="40"/>
              </a:spcBef>
            </a:pPr>
            <a:r>
              <a:rPr lang="uz-UZ" altLang="en-US" sz="1300" b="1" dirty="0">
                <a:solidFill>
                  <a:srgbClr val="00E676"/>
                </a:solidFill>
                <a:latin typeface="Calibri"/>
              </a:rPr>
              <a:t>    🔷 Korporativ Dashboard — Jamoa samaradorligi va audit tizimi</a:t>
            </a:r>
          </a:p>
        </p:txBody>
      </p:sp>
    </p:spTree>
  </p:cSld>
  <p:clrMapOvr>
    <a:masterClr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 xmlns:xdr="http://schemas.openxmlformats.org/drawingml/2006/spreadsheetDrawin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0"/>
            <a:ext cx="12193200" cy="21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0" y="6642000"/>
            <a:ext cx="12193200" cy="21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80000" y="900000"/>
            <a:ext cx="10033200" cy="5040000"/>
          </a:xfrm>
          <a:prstGeom prst="roundRect">
            <a:avLst>
              <a:gd name="adj" fmla="val 20000"/>
            </a:avLst>
          </a:prstGeom>
          <a:solidFill>
            <a:srgbClr val="0F2547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80000" y="900000"/>
            <a:ext cx="10033200" cy="432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1080000" y="5896800"/>
            <a:ext cx="10033200" cy="43200"/>
          </a:xfrm>
          <a:prstGeom prst="rect">
            <a:avLst/>
          </a:prstGeom>
          <a:solidFill>
            <a:srgbClr val="7B2FBE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080000" y="1080000"/>
            <a:ext cx="10033200" cy="90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/>
            <a:r>
              <a:rPr lang="uz-UZ" altLang="en-US" sz="2600" b="1" dirty="0">
                <a:solidFill>
                  <a:srgbClr val="00C6FF"/>
                </a:solidFill>
                <a:latin typeface="Calibri"/>
              </a:rPr>
              <a:t>🎓  E'tiboringiz uchun</a:t>
            </a:r>
          </a:p>
          <a:p>
            <a:pPr algn="ctr"/>
            <a:r>
              <a:rPr lang="uz-UZ" altLang="en-US" sz="3200" b="1" dirty="0">
                <a:solidFill>
                  <a:srgbClr val="FFFFFF"/>
                </a:solidFill>
                <a:latin typeface="Calibri"/>
              </a:rPr>
              <a:t>RAHMAT!</a:t>
            </a:r>
          </a:p>
        </p:txBody>
      </p:sp>
      <p:sp>
        <p:nvSpPr>
          <p:cNvPr id="2" name="r"/>
          <p:cNvSpPr>
            <a:spLocks noGrp="1"/>
          </p:cNvSpPr>
          <p:nvPr/>
        </p:nvSpPr>
        <p:spPr>
          <a:xfrm>
            <a:off x="2520000" y="2232000"/>
            <a:ext cx="7200000" cy="36000"/>
          </a:xfrm>
          <a:prstGeom prst="rect">
            <a:avLst/>
          </a:prstGeom>
          <a:solidFill>
            <a:srgbClr val="00C6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" name="tb"/>
          <p:cNvSpPr txBox="1"/>
          <p:nvPr/>
        </p:nvSpPr>
        <p:spPr>
          <a:xfrm>
            <a:off x="1080000" y="2412000"/>
            <a:ext cx="10033200" cy="2880000"/>
          </a:xfrm>
          <a:prstGeom prst="rect">
            <a:avLst/>
          </a:prstGeom>
          <a:noFill/>
        </p:spPr>
        <p:txBody>
          <a:bodyPr wrap="square" anchor="t" lIns="91440" rIns="91440" tIns="45720" bIns="45720"/>
          <a:lstStyle/>
          <a:p>
            <a:pPr algn="ctr">
              <a:spcBef>
                <a:spcPts val="150"/>
              </a:spcBef>
            </a:pPr>
            <a:r>
              <a:rPr lang="uz-UZ" altLang="en-US" sz="1500" i="1" dirty="0">
                <a:solidFill>
                  <a:srgbClr val="B0C4DE"/>
                </a:solidFill>
                <a:latin typeface="Calibri"/>
              </a:rPr>
              <a:t>Dasturiy versiyalar tahlil tizimi</a:t>
            </a:r>
          </a:p>
          <a:p>
            <a:pPr algn="ctr">
              <a:spcBef>
                <a:spcPts val="80"/>
              </a:spcBef>
            </a:pPr>
            <a:r>
              <a:rPr lang="uz-UZ" altLang="en-US" sz="1000" dirty="0">
                <a:solidFill>
                  <a:srgbClr val="7B2FBE"/>
                </a:solidFill>
                <a:latin typeface="Calibri"/>
              </a:rPr>
              <a:t>─────────────────────────────────────────</a:t>
            </a:r>
          </a:p>
          <a:p>
            <a:pPr algn="ctr">
              <a:spcBef>
                <a:spcPts val="15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Bitiruvchi:  Amonov Sohibjon</a:t>
            </a:r>
          </a:p>
          <a:p>
            <a:pPr algn="ctr">
              <a:spcBef>
                <a:spcPts val="12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>Ilmiy rahbar:  Yusupov O.</a:t>
            </a:r>
          </a:p>
          <a:p>
            <a:pPr algn="ctr">
              <a:spcBef>
                <a:spcPts val="120"/>
              </a:spcBef>
            </a:pPr>
            <a:r>
              <a:rPr lang="uz-UZ" altLang="en-US" sz="1300" dirty="0">
                <a:solidFill>
                  <a:srgbClr val="B0C4DE"/>
                </a:solidFill>
                <a:latin typeface="Calibri"/>
              </a:rPr>
              <a:t>TATU Samarqand filiali  —  2026</a:t>
            </a:r>
          </a:p>
          <a:p>
            <a:pPr algn="ctr">
              <a:spcBef>
                <a:spcPts val="80"/>
              </a:spcBef>
            </a:pPr>
            <a:r>
              <a:rPr lang="uz-UZ" altLang="en-US" sz="1000" dirty="0">
                <a:solidFill>
                  <a:srgbClr val="7B2FBE"/>
                </a:solidFill>
                <a:latin typeface="Calibri"/>
              </a:rPr>
              <a:t>─────────────────────────────────────────</a:t>
            </a:r>
          </a:p>
          <a:p>
            <a:pPr algn="ctr">
              <a:spcBef>
                <a:spcPts val="150"/>
              </a:spcBef>
            </a:pPr>
            <a:r>
              <a:rPr lang="uz-UZ" altLang="en-US" sz="1200" i="1" dirty="0">
                <a:solidFill>
                  <a:srgbClr val="00C6FF"/>
                </a:solidFill>
                <a:latin typeface="Calibri"/>
              </a:rPr>
              <a:t>React  •  Node.js  •  Express.js  •  Google Gemini AI</a:t>
            </a:r>
          </a:p>
          <a:p>
            <a:pPr algn="ctr">
              <a:spcBef>
                <a:spcPts val="150"/>
              </a:spcBef>
            </a:pPr>
            <a:r>
              <a:rPr lang="uz-UZ" altLang="en-US" sz="1400" dirty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Bef>
                <a:spcPts val="100"/>
              </a:spcBef>
            </a:pPr>
            <a:r>
              <a:rPr lang="uz-UZ" altLang="en-US" sz="1500" b="1" dirty="0">
                <a:solidFill>
                  <a:srgbClr val="00E676"/>
                </a:solidFill>
                <a:latin typeface="Calibri"/>
              </a:rPr>
              <a:t>Savollar uchun tayyorman!</a:t>
            </a:r>
          </a:p>
        </p:txBody>
      </p:sp>
    </p:spTree>
  </p:cSld>
  <p:clrMapOvr>
    <a:masterClr/>
  </p:clrMapOvr>
</p:sld>
</file>

<file path=docProps/core.xml><?xml version="1.0" encoding="utf-8"?>
<cp:coreProperties xmlns:cp="http://schemas.openxmlformats.org/package/2006/metadata/core-properties" xmlns:dc="http://purl.org/dc/elements/1.1/">
  <dc:title>Dasturiy versiyalar tahlil tizimi - Diplom Himoya Prezentatsiyasi</dc:title>
  <dc:creator>Amonov Sohibjon</dc:creator>
  <dc:subject>Bitiruv Malakaviy Ishi - TATU Samarqand filiali 2026</dc:subject>
</cp:coreProperties>
</file>